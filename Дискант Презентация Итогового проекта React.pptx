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_rels/.rels" ContentType="application/vnd.openxmlformats-package.relationship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_rels/presentation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media/image1.png" ContentType="image/png"/>
  <Override PartName="/ppt/media/image4.png" ContentType="image/png"/>
  <Override PartName="/ppt/media/image12.png" ContentType="image/png"/>
  <Override PartName="/ppt/media/image5.png" ContentType="image/png"/>
  <Override PartName="/ppt/media/image13.png" ContentType="image/png"/>
  <Override PartName="/ppt/media/image6.png" ContentType="image/png"/>
  <Override PartName="/ppt/media/image14.png" ContentType="image/png"/>
  <Override PartName="/ppt/media/image15.png" ContentType="image/png"/>
  <Override PartName="/ppt/media/image7.png" ContentType="image/png"/>
  <Override PartName="/ppt/media/image16.png" ContentType="image/png"/>
  <Override PartName="/ppt/media/image8.png" ContentType="image/png"/>
  <Override PartName="/ppt/media/image10.png" ContentType="image/png"/>
  <Override PartName="/ppt/media/image2.png" ContentType="image/png"/>
  <Override PartName="/ppt/media/image3.png" ContentType="image/png"/>
  <Override PartName="/ppt/media/image11.png" ContentType="image/png"/>
  <Override PartName="/ppt/media/image9.png" ContentType="image/png"/>
  <Override PartName="/ppt/media/image17.png" ContentType="image/png"/>
  <Override PartName="/ppt/media/image18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4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s/_rels/slide15.xml.rels" ContentType="application/vnd.openxmlformats-package.relationships+xml"/>
  <Override PartName="/ppt/slides/_rels/slide14.xml.rels" ContentType="application/vnd.openxmlformats-package.relationships+xml"/>
  <Override PartName="/ppt/slides/_rels/slide13.xml.rels" ContentType="application/vnd.openxmlformats-package.relationships+xml"/>
  <Override PartName="/ppt/slides/_rels/slide9.xml.rels" ContentType="application/vnd.openxmlformats-package.relationships+xml"/>
  <Override PartName="/ppt/slides/_rels/slide12.xml.rels" ContentType="application/vnd.openxmlformats-package.relationships+xml"/>
  <Override PartName="/ppt/slides/_rels/slide8.xml.rels" ContentType="application/vnd.openxmlformats-package.relationships+xml"/>
  <Override PartName="/ppt/slides/_rels/slide11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7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4" r:id="rId3"/>
    <p:sldMasterId id="2147483656" r:id="rId4"/>
    <p:sldMasterId id="2147483658" r:id="rId5"/>
    <p:sldMasterId id="2147483660" r:id="rId6"/>
    <p:sldMasterId id="2147483662" r:id="rId7"/>
    <p:sldMasterId id="2147483664" r:id="rId8"/>
    <p:sldMasterId id="2147483666" r:id="rId9"/>
  </p:sld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59D28B4-900E-4152-9CD7-F2315BD68FB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trike="noStrike" u="none">
              <a:solidFill>
                <a:schemeClr val="dk1"/>
              </a:solidFill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39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trike="noStrike" u="none">
              <a:solidFill>
                <a:schemeClr val="dk1"/>
              </a:solidFill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/>
          </p:nvPr>
        </p:nvSpPr>
        <p:spPr>
          <a:xfrm>
            <a:off x="6231600" y="1604520"/>
            <a:ext cx="53539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trike="noStrike" u="none">
              <a:solidFill>
                <a:schemeClr val="dk1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4A7FEB8-D4FB-4290-90B4-F1B9E34BB92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C9DB905-0A0B-4EAE-A453-33BB517F944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26E53C8-0C9F-4DED-AFB2-B5F265C52B9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trike="noStrike" u="none">
              <a:solidFill>
                <a:schemeClr val="dk1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EF0D232-AAAA-4CB5-93D2-B1AD3F6A652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F85FF39-215E-4727-BCDD-419E6824AFF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trike="noStrike" u="none">
              <a:solidFill>
                <a:schemeClr val="dk1"/>
              </a:solidFill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39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trike="noStrike" u="none">
              <a:solidFill>
                <a:schemeClr val="dk1"/>
              </a:solidFill>
              <a:uFillTx/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/>
          </p:nvPr>
        </p:nvSpPr>
        <p:spPr>
          <a:xfrm>
            <a:off x="6231600" y="1604520"/>
            <a:ext cx="53539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trike="noStrike" u="none">
              <a:solidFill>
                <a:schemeClr val="dk1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B7F6E268-C0C4-436F-A060-0D0A6AA728C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2DC9D1B8-E8C4-41E8-A153-3DEF1F18E69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FCF5CED4-8090-4FA8-B24B-7D8FCE3E4E0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FDFB0E16-01E3-4C8C-81C3-525F1DA948D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71C63F32-A769-42D7-84E0-60CB819E02B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C5E59782-11A0-4769-A5DF-403E2C09DB4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6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7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8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9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10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11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lnSpcReduction="9999"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Для правки текста заглавия щёлкните мышью</a:t>
            </a:r>
            <a:endParaRPr b="0" lang="ru-RU" sz="4400" strike="noStrike" u="none">
              <a:solidFill>
                <a:schemeClr val="dk1"/>
              </a:solidFill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  <a:ea typeface="Arial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  <a:ea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  <a:ea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trike="noStrike" u="none">
                <a:solidFill>
                  <a:srgbClr val="888888"/>
                </a:solidFill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689F468-865B-46E6-94E8-A6885A25190D}" type="slidenum">
              <a:rPr b="0" lang="ru-RU" sz="1200" strike="noStrike" u="none">
                <a:solidFill>
                  <a:srgbClr val="888888"/>
                </a:solidFill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t">
            <a:normAutofit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Для правки структуры щёлкните мышью</a:t>
            </a:r>
            <a:endParaRPr b="0" lang="ru-RU" sz="14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Второй уровень структуры</a:t>
            </a:r>
            <a:endParaRPr b="0" lang="ru-RU" sz="14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Третий уровень структуры</a:t>
            </a:r>
            <a:endParaRPr b="0" lang="ru-RU" sz="14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Четвёртый уровень структуры</a:t>
            </a:r>
            <a:endParaRPr b="0" lang="ru-RU" sz="14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Пятый уровень структуры</a:t>
            </a:r>
            <a:endParaRPr b="0" lang="ru-RU" sz="20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Шестой уровень структуры</a:t>
            </a:r>
            <a:endParaRPr b="0" lang="ru-RU" sz="20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Седьмой уровень структуры</a:t>
            </a:r>
            <a:endParaRPr b="0" lang="ru-RU" sz="2000" strike="noStrike" u="none">
              <a:solidFill>
                <a:schemeClr val="dk1"/>
              </a:solidFill>
              <a:uFillTx/>
              <a:latin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4520" cy="285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6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Для правки текста заглавия щёлкните мышью</a:t>
            </a:r>
            <a:endParaRPr b="0" lang="ru-RU" sz="6000" strike="noStrike" u="none">
              <a:solidFill>
                <a:schemeClr val="dk1"/>
              </a:solidFill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4520" cy="1499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47500" lnSpcReduction="19999"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Для правки структуры щёлкните мышью</a:t>
            </a:r>
            <a:endParaRPr b="0" lang="ru-RU" sz="24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ru-RU" sz="24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Второй уровень структуры</a:t>
            </a:r>
            <a:endParaRPr b="0" lang="ru-RU" sz="24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Третий уровень структуры</a:t>
            </a:r>
            <a:endParaRPr b="0" lang="ru-RU" sz="24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ru-RU" sz="24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Четвёртый уровень структуры</a:t>
            </a:r>
            <a:endParaRPr b="0" lang="ru-RU" sz="24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Пятый уровень структуры</a:t>
            </a:r>
            <a:endParaRPr b="0" lang="ru-RU" sz="24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Шестой уровень структуры</a:t>
            </a:r>
            <a:endParaRPr b="0" lang="ru-RU" sz="24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Седьмой уровень структуры</a:t>
            </a:r>
            <a:endParaRPr b="0" lang="ru-RU" sz="2400" strike="noStrike" u="none">
              <a:solidFill>
                <a:schemeClr val="dk1"/>
              </a:solidFill>
              <a:uFillTx/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  <a:ea typeface="Arial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  <a:ea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  <a:ea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trike="noStrike" u="none">
                <a:solidFill>
                  <a:srgbClr val="888888"/>
                </a:solidFill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3A68B60-8D81-4656-8635-7942801AF5FC}" type="slidenum">
              <a:rPr b="0" lang="ru-RU" sz="1200" strike="noStrike" u="none">
                <a:solidFill>
                  <a:srgbClr val="888888"/>
                </a:solidFill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lnSpcReduction="9999"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Для правки текста заглавия щёлкните мышью</a:t>
            </a:r>
            <a:endParaRPr b="0" lang="ru-RU" sz="4400" strike="noStrike" u="none">
              <a:solidFill>
                <a:schemeClr val="dk1"/>
              </a:solidFill>
              <a:uFillTx/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0400" cy="435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7500" lnSpcReduction="19999"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Для правки структуры щёлкните мышью</a:t>
            </a:r>
            <a:endParaRPr b="0" lang="ru-RU" sz="28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ru-RU" sz="28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Второй уровень структуры</a:t>
            </a:r>
            <a:endParaRPr b="0" lang="ru-RU" sz="28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Третий уровень структуры</a:t>
            </a:r>
            <a:endParaRPr b="0" lang="ru-RU" sz="28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ru-RU" sz="28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Четвёртый уровень структуры</a:t>
            </a:r>
            <a:endParaRPr b="0" lang="ru-RU" sz="28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Пятый уровень структуры</a:t>
            </a:r>
            <a:endParaRPr b="0" lang="ru-RU" sz="28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Шестой уровень структуры</a:t>
            </a:r>
            <a:endParaRPr b="0" lang="ru-RU" sz="28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Седьмой уровень структуры</a:t>
            </a:r>
            <a:endParaRPr b="0" lang="ru-RU" sz="2800" strike="noStrike" u="none">
              <a:solidFill>
                <a:schemeClr val="dk1"/>
              </a:solidFill>
              <a:uFillTx/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0400" cy="435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7500" lnSpcReduction="19999"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Для правки структуры щёлкните мышью</a:t>
            </a:r>
            <a:endParaRPr b="0" lang="ru-RU" sz="28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ru-RU" sz="28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Второй уровень структуры</a:t>
            </a:r>
            <a:endParaRPr b="0" lang="ru-RU" sz="28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Третий уровень структуры</a:t>
            </a:r>
            <a:endParaRPr b="0" lang="ru-RU" sz="28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ru-RU" sz="28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Четвёртый уровень структуры</a:t>
            </a:r>
            <a:endParaRPr b="0" lang="ru-RU" sz="28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Пятый уровень структуры</a:t>
            </a:r>
            <a:endParaRPr b="0" lang="ru-RU" sz="28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Шестой уровень структуры</a:t>
            </a:r>
            <a:endParaRPr b="0" lang="ru-RU" sz="28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Седьмой уровень структуры</a:t>
            </a:r>
            <a:endParaRPr b="0" lang="ru-RU" sz="2800" strike="noStrike" u="none">
              <a:solidFill>
                <a:schemeClr val="dk1"/>
              </a:solidFill>
              <a:uFillTx/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  <a:ea typeface="Arial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  <a:ea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  <a:ea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9" name="PlaceHolder 6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trike="noStrike" u="none">
                <a:solidFill>
                  <a:srgbClr val="888888"/>
                </a:solidFill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836525C-FB8E-4239-84A2-4D26FA42CD58}" type="slidenum">
              <a:rPr b="0" lang="ru-RU" sz="1200" strike="noStrike" u="none">
                <a:solidFill>
                  <a:srgbClr val="888888"/>
                </a:solidFill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lnSpcReduction="9999"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Для правки текста заглавия щёлкните мышью</a:t>
            </a:r>
            <a:endParaRPr b="0" lang="ru-RU" sz="4400" strike="noStrike" u="none">
              <a:solidFill>
                <a:schemeClr val="dk1"/>
              </a:solidFill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6640" cy="822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25000" lnSpcReduction="19999"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Для правки структуры щёлкните мышью</a:t>
            </a:r>
            <a:endParaRPr b="0" lang="ru-RU" sz="24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ru-RU" sz="24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Второй уровень структуры</a:t>
            </a:r>
            <a:endParaRPr b="0" lang="ru-RU" sz="24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Третий уровень структуры</a:t>
            </a:r>
            <a:endParaRPr b="0" lang="ru-RU" sz="24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ru-RU" sz="24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Четвёртый уровень структуры</a:t>
            </a:r>
            <a:endParaRPr b="0" lang="ru-RU" sz="24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Пятый уровень структуры</a:t>
            </a:r>
            <a:endParaRPr b="0" lang="ru-RU" sz="24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Шестой уровень структуры</a:t>
            </a:r>
            <a:endParaRPr b="0" lang="ru-RU" sz="24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Седьмой уровень структуры</a:t>
            </a:r>
            <a:endParaRPr b="0" lang="ru-RU" sz="2400" strike="noStrike" u="none">
              <a:solidFill>
                <a:schemeClr val="dk1"/>
              </a:solidFill>
              <a:uFillTx/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6640" cy="368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0000" lnSpcReduction="19999"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Для правки структуры щёлкните мышью</a:t>
            </a:r>
            <a:endParaRPr b="0" lang="ru-RU" sz="28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ru-RU" sz="28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Второй уровень структуры</a:t>
            </a:r>
            <a:endParaRPr b="0" lang="ru-RU" sz="28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Третий уровень структуры</a:t>
            </a:r>
            <a:endParaRPr b="0" lang="ru-RU" sz="28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ru-RU" sz="28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Четвёртый уровень структуры</a:t>
            </a:r>
            <a:endParaRPr b="0" lang="ru-RU" sz="28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Пятый уровень структуры</a:t>
            </a:r>
            <a:endParaRPr b="0" lang="ru-RU" sz="28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Шестой уровень структуры</a:t>
            </a:r>
            <a:endParaRPr b="0" lang="ru-RU" sz="28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Седьмой уровень структуры</a:t>
            </a:r>
            <a:endParaRPr b="0" lang="ru-RU" sz="2800" strike="noStrike" u="none">
              <a:solidFill>
                <a:schemeClr val="dk1"/>
              </a:solidFill>
              <a:uFillTx/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200" cy="822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25000" lnSpcReduction="19999"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Для правки структуры щёлкните мышью</a:t>
            </a:r>
            <a:endParaRPr b="0" lang="ru-RU" sz="24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ru-RU" sz="24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Второй уровень структуры</a:t>
            </a:r>
            <a:endParaRPr b="0" lang="ru-RU" sz="24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Третий уровень структуры</a:t>
            </a:r>
            <a:endParaRPr b="0" lang="ru-RU" sz="24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ru-RU" sz="24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Четвёртый уровень структуры</a:t>
            </a:r>
            <a:endParaRPr b="0" lang="ru-RU" sz="24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Пятый уровень структуры</a:t>
            </a:r>
            <a:endParaRPr b="0" lang="ru-RU" sz="24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Шестой уровень структуры</a:t>
            </a:r>
            <a:endParaRPr b="0" lang="ru-RU" sz="24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Седьмой уровень структуры</a:t>
            </a:r>
            <a:endParaRPr b="0" lang="ru-RU" sz="2400" strike="noStrike" u="none">
              <a:solidFill>
                <a:schemeClr val="dk1"/>
              </a:solidFill>
              <a:uFillTx/>
              <a:latin typeface="Arial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200" cy="368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0000" lnSpcReduction="19999"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Для правки структуры щёлкните мышью</a:t>
            </a:r>
            <a:endParaRPr b="0" lang="ru-RU" sz="28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ru-RU" sz="28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Второй уровень структуры</a:t>
            </a:r>
            <a:endParaRPr b="0" lang="ru-RU" sz="28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Третий уровень структуры</a:t>
            </a:r>
            <a:endParaRPr b="0" lang="ru-RU" sz="28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ru-RU" sz="28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Четвёртый уровень структуры</a:t>
            </a:r>
            <a:endParaRPr b="0" lang="ru-RU" sz="28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Пятый уровень структуры</a:t>
            </a:r>
            <a:endParaRPr b="0" lang="ru-RU" sz="28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Шестой уровень структуры</a:t>
            </a:r>
            <a:endParaRPr b="0" lang="ru-RU" sz="28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Седьмой уровень структуры</a:t>
            </a:r>
            <a:endParaRPr b="0" lang="ru-RU" sz="2800" strike="noStrike" u="none">
              <a:solidFill>
                <a:schemeClr val="dk1"/>
              </a:solidFill>
              <a:uFillTx/>
              <a:latin typeface="Arial"/>
            </a:endParaRPr>
          </a:p>
        </p:txBody>
      </p:sp>
      <p:sp>
        <p:nvSpPr>
          <p:cNvPr id="28" name="PlaceHolder 6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  <a:ea typeface="Arial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9" name="PlaceHolder 7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  <a:ea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  <a:ea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0" name="PlaceHolder 8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trike="noStrike" u="none">
                <a:solidFill>
                  <a:srgbClr val="888888"/>
                </a:solidFill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25CE590-8041-48D9-B3FD-0E956849FDDE}" type="slidenum">
              <a:rPr b="0" lang="ru-RU" sz="1200" strike="noStrike" u="none">
                <a:solidFill>
                  <a:srgbClr val="888888"/>
                </a:solidFill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200" cy="159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32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Для правки текста заглавия щёлкните мышью</a:t>
            </a:r>
            <a:endParaRPr b="0" lang="ru-RU" sz="3200" strike="noStrike" u="none">
              <a:solidFill>
                <a:schemeClr val="dk1"/>
              </a:solidFill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120" cy="4872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5000" lnSpcReduction="19999"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Для правки структуры щёлкните мышью</a:t>
            </a:r>
            <a:endParaRPr b="0" lang="ru-RU" sz="32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ru-RU" sz="32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Второй уровень структуры</a:t>
            </a:r>
            <a:endParaRPr b="0" lang="ru-RU" sz="32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Третий уровень структуры</a:t>
            </a:r>
            <a:endParaRPr b="0" lang="ru-RU" sz="32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ru-RU" sz="32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Четвёртый уровень структуры</a:t>
            </a:r>
            <a:endParaRPr b="0" lang="ru-RU" sz="32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Пятый уровень структуры</a:t>
            </a:r>
            <a:endParaRPr b="0" lang="ru-RU" sz="32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Шестой уровень структуры</a:t>
            </a:r>
            <a:endParaRPr b="0" lang="ru-RU" sz="32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Седьмой уровень структуры</a:t>
            </a:r>
            <a:endParaRPr b="0" lang="ru-RU" sz="3200" strike="noStrike" u="none">
              <a:solidFill>
                <a:schemeClr val="dk1"/>
              </a:solidFill>
              <a:uFillTx/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200" cy="381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2500" lnSpcReduction="9999"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6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Для правки структуры щёлкните мышью</a:t>
            </a:r>
            <a:endParaRPr b="0" lang="ru-RU" sz="16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ru-RU" sz="16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Второй уровень структуры</a:t>
            </a:r>
            <a:endParaRPr b="0" lang="ru-RU" sz="16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6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Третий уровень структуры</a:t>
            </a:r>
            <a:endParaRPr b="0" lang="ru-RU" sz="16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ru-RU" sz="16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Четвёртый уровень структуры</a:t>
            </a:r>
            <a:endParaRPr b="0" lang="ru-RU" sz="16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6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Пятый уровень структуры</a:t>
            </a:r>
            <a:endParaRPr b="0" lang="ru-RU" sz="16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6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Шестой уровень структуры</a:t>
            </a:r>
            <a:endParaRPr b="0" lang="ru-RU" sz="16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6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Седьмой уровень структуры</a:t>
            </a:r>
            <a:endParaRPr b="0" lang="ru-RU" sz="1600" strike="noStrike" u="none">
              <a:solidFill>
                <a:schemeClr val="dk1"/>
              </a:solidFill>
              <a:uFillTx/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  <a:ea typeface="Arial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  <a:ea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  <a:ea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trike="noStrike" u="none">
                <a:solidFill>
                  <a:srgbClr val="888888"/>
                </a:solidFill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7156338-AF62-48E9-B425-879708802C78}" type="slidenum">
              <a:rPr b="0" lang="ru-RU" sz="1200" strike="noStrike" u="none">
                <a:solidFill>
                  <a:srgbClr val="888888"/>
                </a:solidFill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200" cy="159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32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Для правки текста заглавия щёлкните мышью</a:t>
            </a:r>
            <a:endParaRPr b="0" lang="ru-RU" sz="3200" strike="noStrike" u="none">
              <a:solidFill>
                <a:schemeClr val="dk1"/>
              </a:solidFill>
              <a:uFillTx/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120" cy="4872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Для правки структуры щёлкните мышью</a:t>
            </a:r>
            <a:endParaRPr b="0" lang="ru-RU" sz="18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Второй уровень структуры</a:t>
            </a:r>
            <a:endParaRPr b="0" lang="ru-RU" sz="18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Третий уровень структуры</a:t>
            </a:r>
            <a:endParaRPr b="0" lang="ru-RU" sz="18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Четвёртый уровень структуры</a:t>
            </a:r>
            <a:endParaRPr b="0" lang="ru-RU" sz="18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Пятый уровень структуры</a:t>
            </a:r>
            <a:endParaRPr b="0" lang="ru-RU" sz="18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Шестой уровень структуры</a:t>
            </a:r>
            <a:endParaRPr b="0" lang="ru-RU" sz="18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Седьмой уровень структуры</a:t>
            </a:r>
            <a:endParaRPr b="0" lang="ru-RU" sz="1800" strike="noStrike" u="none">
              <a:solidFill>
                <a:schemeClr val="dk1"/>
              </a:solidFill>
              <a:uFillTx/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200" cy="381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2500" lnSpcReduction="9999"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6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Для правки структуры щёлкните мышью</a:t>
            </a:r>
            <a:endParaRPr b="0" lang="ru-RU" sz="16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ru-RU" sz="16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Второй уровень структуры</a:t>
            </a:r>
            <a:endParaRPr b="0" lang="ru-RU" sz="16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6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Третий уровень структуры</a:t>
            </a:r>
            <a:endParaRPr b="0" lang="ru-RU" sz="16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ru-RU" sz="16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Четвёртый уровень структуры</a:t>
            </a:r>
            <a:endParaRPr b="0" lang="ru-RU" sz="16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6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Пятый уровень структуры</a:t>
            </a:r>
            <a:endParaRPr b="0" lang="ru-RU" sz="16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6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Шестой уровень структуры</a:t>
            </a:r>
            <a:endParaRPr b="0" lang="ru-RU" sz="16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6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Седьмой уровень структуры</a:t>
            </a:r>
            <a:endParaRPr b="0" lang="ru-RU" sz="1600" strike="noStrike" u="none">
              <a:solidFill>
                <a:schemeClr val="dk1"/>
              </a:solidFill>
              <a:uFillTx/>
              <a:latin typeface="Arial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  <a:ea typeface="Arial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  <a:ea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  <a:ea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trike="noStrike" u="none">
                <a:solidFill>
                  <a:srgbClr val="888888"/>
                </a:solidFill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585EE80-16F8-4CCB-B67E-65D3EC1FCD26}" type="slidenum">
              <a:rPr b="0" lang="ru-RU" sz="1200" strike="noStrike" u="none">
                <a:solidFill>
                  <a:srgbClr val="888888"/>
                </a:solidFill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lnSpcReduction="9999"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Для правки текста заглавия щёлкните мышью</a:t>
            </a:r>
            <a:endParaRPr b="0" lang="ru-RU" sz="4400" strike="noStrike" u="none">
              <a:solidFill>
                <a:schemeClr val="dk1"/>
              </a:solidFill>
              <a:uFillTx/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 rot="5400000">
            <a:off x="3921120" y="-1255680"/>
            <a:ext cx="4350240" cy="10514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Для правки структуры щёлкните мышью</a:t>
            </a:r>
            <a:endParaRPr b="0" lang="ru-RU" sz="28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ru-RU" sz="28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Второй уровень структуры</a:t>
            </a:r>
            <a:endParaRPr b="0" lang="ru-RU" sz="28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Третий уровень структуры</a:t>
            </a:r>
            <a:endParaRPr b="0" lang="ru-RU" sz="28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ru-RU" sz="28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Четвёртый уровень структуры</a:t>
            </a:r>
            <a:endParaRPr b="0" lang="ru-RU" sz="28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Пятый уровень структуры</a:t>
            </a:r>
            <a:endParaRPr b="0" lang="ru-RU" sz="28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Шестой уровень структуры</a:t>
            </a:r>
            <a:endParaRPr b="0" lang="ru-RU" sz="28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Седьмой уровень структуры</a:t>
            </a:r>
            <a:endParaRPr b="0" lang="ru-RU" sz="2800" strike="noStrike" u="none">
              <a:solidFill>
                <a:schemeClr val="dk1"/>
              </a:solidFill>
              <a:uFillTx/>
              <a:latin typeface="Arial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  <a:ea typeface="Arial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  <a:ea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  <a:ea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trike="noStrike" u="none">
                <a:solidFill>
                  <a:srgbClr val="888888"/>
                </a:solidFill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3BF8F47-6160-41F5-94AF-190EF1AACFA6}" type="slidenum">
              <a:rPr b="0" lang="ru-RU" sz="1200" strike="noStrike" u="none">
                <a:solidFill>
                  <a:srgbClr val="888888"/>
                </a:solidFill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 rot="5400000">
            <a:off x="7134120" y="1956240"/>
            <a:ext cx="5810760" cy="2628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Для правки текста заглавия щёлкните мышью</a:t>
            </a:r>
            <a:endParaRPr b="0" lang="ru-RU" sz="4400" strike="noStrike" u="none">
              <a:solidFill>
                <a:schemeClr val="dk1"/>
              </a:solidFill>
              <a:uFillTx/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 rot="5400000">
            <a:off x="1800720" y="-596160"/>
            <a:ext cx="5810760" cy="773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Для правки структуры щёлкните мышью</a:t>
            </a:r>
            <a:endParaRPr b="0" lang="ru-RU" sz="28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ru-RU" sz="28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Второй уровень структуры</a:t>
            </a:r>
            <a:endParaRPr b="0" lang="ru-RU" sz="28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Третий уровень структуры</a:t>
            </a:r>
            <a:endParaRPr b="0" lang="ru-RU" sz="28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ru-RU" sz="28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Четвёртый уровень структуры</a:t>
            </a:r>
            <a:endParaRPr b="0" lang="ru-RU" sz="28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Пятый уровень структуры</a:t>
            </a:r>
            <a:endParaRPr b="0" lang="ru-RU" sz="28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Шестой уровень структуры</a:t>
            </a:r>
            <a:endParaRPr b="0" lang="ru-RU" sz="2800" strike="noStrike" u="none">
              <a:solidFill>
                <a:schemeClr val="dk1"/>
              </a:solidFill>
              <a:uFillTx/>
              <a:latin typeface="Arial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Седьмой уровень структуры</a:t>
            </a:r>
            <a:endParaRPr b="0" lang="ru-RU" sz="2800" strike="noStrike" u="none">
              <a:solidFill>
                <a:schemeClr val="dk1"/>
              </a:solidFill>
              <a:uFillTx/>
              <a:latin typeface="Arial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  <a:ea typeface="Arial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  <a:ea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  <a:ea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trike="noStrike" u="none">
                <a:solidFill>
                  <a:srgbClr val="888888"/>
                </a:solidFill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FB99B80-5148-4D53-9229-E83B593B7277}" type="slidenum">
              <a:rPr b="0" lang="ru-RU" sz="1200" strike="noStrike" u="none">
                <a:solidFill>
                  <a:srgbClr val="888888"/>
                </a:solidFill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5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slideLayout" Target="../slideLayouts/slideLayout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slideLayout" Target="../slideLayouts/slideLayout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slideLayout" Target="../slideLayouts/slideLayout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12.png"/><Relationship Id="rId4" Type="http://schemas.openxmlformats.org/officeDocument/2006/relationships/slideLayout" Target="../slideLayouts/slideLayout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13.png"/><Relationship Id="rId4" Type="http://schemas.openxmlformats.org/officeDocument/2006/relationships/slideLayout" Target="../slideLayouts/slideLayout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14.png"/><Relationship Id="rId4" Type="http://schemas.openxmlformats.org/officeDocument/2006/relationships/slideLayout" Target="../slideLayouts/slideLayout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slideLayout" Target="../slideLayouts/slideLayout5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slideLayout" Target="../slideLayouts/slideLayout5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5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5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73;p2" descr=""/>
          <p:cNvPicPr/>
          <p:nvPr/>
        </p:nvPicPr>
        <p:blipFill>
          <a:blip r:embed="rId1"/>
          <a:srcRect l="0" t="183" r="0" b="183"/>
          <a:stretch/>
        </p:blipFill>
        <p:spPr>
          <a:xfrm>
            <a:off x="1080" y="0"/>
            <a:ext cx="12188880" cy="783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4" name="Google Shape;74;p2" descr=""/>
          <p:cNvPicPr/>
          <p:nvPr/>
        </p:nvPicPr>
        <p:blipFill>
          <a:blip r:embed="rId2"/>
          <a:srcRect l="0" t="1011" r="0" b="1011"/>
          <a:stretch/>
        </p:blipFill>
        <p:spPr>
          <a:xfrm>
            <a:off x="9288360" y="272160"/>
            <a:ext cx="2518920" cy="222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" name="Google Shape;75;p2"/>
          <p:cNvSpPr/>
          <p:nvPr/>
        </p:nvSpPr>
        <p:spPr>
          <a:xfrm>
            <a:off x="522360" y="929880"/>
            <a:ext cx="10947600" cy="49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2800" strike="noStrike" u="none">
                <a:solidFill>
                  <a:srgbClr val="082326"/>
                </a:solidFill>
                <a:uFillTx/>
                <a:latin typeface="Montserrat ExtraBold"/>
                <a:ea typeface="Montserrat ExtraBold"/>
              </a:rPr>
              <a:t>Shortlist кандидатов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6" name="Google Shape;76;p2"/>
          <p:cNvSpPr/>
          <p:nvPr/>
        </p:nvSpPr>
        <p:spPr>
          <a:xfrm>
            <a:off x="527400" y="1364040"/>
            <a:ext cx="10942920" cy="62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800" strike="noStrike" u="none">
                <a:solidFill>
                  <a:schemeClr val="dk1"/>
                </a:solidFill>
                <a:uFillTx/>
                <a:latin typeface="Play"/>
                <a:ea typeface="Play"/>
              </a:rPr>
              <a:t>Придумайте 3-5 вариантов задач, которые могли бы стать вашим финальным проектом на курсе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57" name="Google Shape;77;p2"/>
          <p:cNvCxnSpPr/>
          <p:nvPr/>
        </p:nvCxnSpPr>
        <p:spPr>
          <a:xfrm>
            <a:off x="0" y="3450240"/>
            <a:ext cx="12329280" cy="1080"/>
          </a:xfrm>
          <a:prstGeom prst="straightConnector1">
            <a:avLst/>
          </a:prstGeom>
          <a:ln w="12700">
            <a:solidFill>
              <a:srgbClr val="d0cece"/>
            </a:solidFill>
            <a:prstDash val="dash"/>
            <a:round/>
          </a:ln>
        </p:spPr>
      </p:cxnSp>
      <p:cxnSp>
        <p:nvCxnSpPr>
          <p:cNvPr id="58" name="Google Shape;78;p2"/>
          <p:cNvCxnSpPr/>
          <p:nvPr/>
        </p:nvCxnSpPr>
        <p:spPr>
          <a:xfrm>
            <a:off x="0" y="4163040"/>
            <a:ext cx="12329280" cy="1080"/>
          </a:xfrm>
          <a:prstGeom prst="straightConnector1">
            <a:avLst/>
          </a:prstGeom>
          <a:ln w="12700">
            <a:solidFill>
              <a:srgbClr val="d0cece"/>
            </a:solidFill>
            <a:prstDash val="dash"/>
            <a:round/>
          </a:ln>
        </p:spPr>
      </p:cxnSp>
      <p:cxnSp>
        <p:nvCxnSpPr>
          <p:cNvPr id="59" name="Google Shape;79;p2"/>
          <p:cNvCxnSpPr/>
          <p:nvPr/>
        </p:nvCxnSpPr>
        <p:spPr>
          <a:xfrm>
            <a:off x="0" y="4875840"/>
            <a:ext cx="12329280" cy="1080"/>
          </a:xfrm>
          <a:prstGeom prst="straightConnector1">
            <a:avLst/>
          </a:prstGeom>
          <a:ln w="12700">
            <a:solidFill>
              <a:srgbClr val="d0cece"/>
            </a:solidFill>
            <a:prstDash val="dash"/>
            <a:round/>
          </a:ln>
        </p:spPr>
      </p:cxnSp>
      <p:sp>
        <p:nvSpPr>
          <p:cNvPr id="60" name="Google Shape;80;p2"/>
          <p:cNvSpPr/>
          <p:nvPr/>
        </p:nvSpPr>
        <p:spPr>
          <a:xfrm>
            <a:off x="522360" y="2203200"/>
            <a:ext cx="2007360" cy="28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400" strike="noStrike" u="none">
                <a:solidFill>
                  <a:schemeClr val="dk1"/>
                </a:solidFill>
                <a:uFillTx/>
                <a:latin typeface="Play"/>
                <a:ea typeface="Play"/>
              </a:rPr>
              <a:t>Название проекта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1" name="Google Shape;81;p2"/>
          <p:cNvSpPr/>
          <p:nvPr/>
        </p:nvSpPr>
        <p:spPr>
          <a:xfrm>
            <a:off x="4216680" y="2203200"/>
            <a:ext cx="2701800" cy="28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400" strike="noStrike" u="none">
                <a:solidFill>
                  <a:schemeClr val="dk1"/>
                </a:solidFill>
                <a:uFillTx/>
                <a:latin typeface="Play"/>
                <a:ea typeface="Play"/>
              </a:rPr>
              <a:t>Какую бизнес-задачу решаем?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2" name="Google Shape;82;p2"/>
          <p:cNvSpPr/>
          <p:nvPr/>
        </p:nvSpPr>
        <p:spPr>
          <a:xfrm>
            <a:off x="8605080" y="2203200"/>
            <a:ext cx="3359880" cy="65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400" strike="noStrike" u="none">
                <a:solidFill>
                  <a:schemeClr val="dk1"/>
                </a:solidFill>
                <a:uFillTx/>
                <a:latin typeface="Play"/>
                <a:ea typeface="Play"/>
              </a:rPr>
              <a:t>Краткое описание </a:t>
            </a:r>
            <a:br>
              <a:rPr sz="1400"/>
            </a:br>
            <a:r>
              <a:rPr b="1" lang="ru-RU" sz="1200" strike="noStrike" u="none">
                <a:solidFill>
                  <a:schemeClr val="dk1"/>
                </a:solidFill>
                <a:uFillTx/>
                <a:latin typeface="Play"/>
                <a:ea typeface="Play"/>
              </a:rPr>
              <a:t>(по возможности укажите какие AI модели планируете использовать)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63" name="Google Shape;83;p2"/>
          <p:cNvCxnSpPr/>
          <p:nvPr/>
        </p:nvCxnSpPr>
        <p:spPr>
          <a:xfrm>
            <a:off x="87840" y="5588280"/>
            <a:ext cx="12329280" cy="1080"/>
          </a:xfrm>
          <a:prstGeom prst="straightConnector1">
            <a:avLst/>
          </a:prstGeom>
          <a:ln w="12700">
            <a:solidFill>
              <a:srgbClr val="d0cece"/>
            </a:solidFill>
            <a:prstDash val="dash"/>
            <a:round/>
          </a:ln>
        </p:spPr>
      </p:cxnSp>
      <p:cxnSp>
        <p:nvCxnSpPr>
          <p:cNvPr id="64" name="Google Shape;84;p2"/>
          <p:cNvCxnSpPr/>
          <p:nvPr/>
        </p:nvCxnSpPr>
        <p:spPr>
          <a:xfrm flipV="1">
            <a:off x="3345480" y="2670840"/>
            <a:ext cx="1080" cy="3853080"/>
          </a:xfrm>
          <a:prstGeom prst="straightConnector1">
            <a:avLst/>
          </a:prstGeom>
          <a:ln w="12700">
            <a:solidFill>
              <a:srgbClr val="d0cece"/>
            </a:solidFill>
            <a:prstDash val="dash"/>
            <a:round/>
          </a:ln>
        </p:spPr>
      </p:cxnSp>
      <p:cxnSp>
        <p:nvCxnSpPr>
          <p:cNvPr id="65" name="Google Shape;85;p2"/>
          <p:cNvCxnSpPr/>
          <p:nvPr/>
        </p:nvCxnSpPr>
        <p:spPr>
          <a:xfrm flipV="1">
            <a:off x="7704000" y="2670840"/>
            <a:ext cx="1080" cy="3853080"/>
          </a:xfrm>
          <a:prstGeom prst="straightConnector1">
            <a:avLst/>
          </a:prstGeom>
          <a:ln w="12700">
            <a:solidFill>
              <a:srgbClr val="d0cece"/>
            </a:solidFill>
            <a:prstDash val="dash"/>
            <a:round/>
          </a:ln>
        </p:spPr>
      </p:cxnSp>
      <p:pic>
        <p:nvPicPr>
          <p:cNvPr id="66" name="Google Shape;86;p2" descr=""/>
          <p:cNvPicPr/>
          <p:nvPr/>
        </p:nvPicPr>
        <p:blipFill>
          <a:blip r:embed="rId3"/>
          <a:srcRect l="10" t="0" r="8" b="0"/>
          <a:stretch/>
        </p:blipFill>
        <p:spPr>
          <a:xfrm>
            <a:off x="1080" y="0"/>
            <a:ext cx="12188880" cy="6856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" name="Google Shape;88;p2"/>
          <p:cNvSpPr/>
          <p:nvPr/>
        </p:nvSpPr>
        <p:spPr>
          <a:xfrm>
            <a:off x="635040" y="1991160"/>
            <a:ext cx="8899920" cy="27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 defTabSz="914400">
              <a:lnSpc>
                <a:spcPct val="118000"/>
              </a:lnSpc>
              <a:tabLst>
                <a:tab algn="l" pos="0"/>
              </a:tabLst>
            </a:pPr>
            <a:r>
              <a:rPr b="1" lang="ru-RU" sz="5400" strike="noStrike" u="none">
                <a:solidFill>
                  <a:srgbClr val="082326"/>
                </a:solidFill>
                <a:uFillTx/>
                <a:latin typeface="Montserrat"/>
                <a:ea typeface="Montserrat"/>
              </a:rPr>
              <a:t>Разработка интернет-магазина </a:t>
            </a:r>
            <a:r>
              <a:rPr b="1" lang="en-US" sz="5400" strike="noStrike" u="none">
                <a:solidFill>
                  <a:srgbClr val="082326"/>
                </a:solidFill>
                <a:uFillTx/>
                <a:latin typeface="Montserrat"/>
                <a:ea typeface="Montserrat"/>
              </a:rPr>
              <a:t>DogFood</a:t>
            </a:r>
            <a:endParaRPr b="0" lang="en-US" sz="5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algn="l" pos="0"/>
              </a:tabLst>
            </a:pPr>
            <a:endParaRPr b="0" lang="en-US" sz="3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8" name="Google Shape;89;p2"/>
          <p:cNvSpPr/>
          <p:nvPr/>
        </p:nvSpPr>
        <p:spPr>
          <a:xfrm>
            <a:off x="527400" y="5784120"/>
            <a:ext cx="10902600" cy="83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 defTabSz="914400">
              <a:lnSpc>
                <a:spcPct val="118000"/>
              </a:lnSpc>
              <a:tabLst>
                <a:tab algn="l" pos="0"/>
              </a:tabLst>
            </a:pPr>
            <a:r>
              <a:rPr b="0" lang="ru-RU" sz="3600" strike="noStrike" u="none">
                <a:solidFill>
                  <a:srgbClr val="082326"/>
                </a:solidFill>
                <a:uFillTx/>
                <a:latin typeface="Montserrat"/>
                <a:ea typeface="Montserrat"/>
              </a:rPr>
              <a:t>Дискант Александр Александрович</a:t>
            </a:r>
            <a:endParaRPr b="0" lang="en-US" sz="3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106;g2ec9d073a02_0_5" descr=""/>
          <p:cNvPicPr/>
          <p:nvPr/>
        </p:nvPicPr>
        <p:blipFill>
          <a:blip r:embed="rId1"/>
          <a:srcRect l="0" t="183" r="0" b="183"/>
          <a:stretch/>
        </p:blipFill>
        <p:spPr>
          <a:xfrm>
            <a:off x="1080" y="0"/>
            <a:ext cx="12188880" cy="783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0" name="Google Shape;107;g2ec9d073a02_0_5" descr=""/>
          <p:cNvPicPr/>
          <p:nvPr/>
        </p:nvPicPr>
        <p:blipFill>
          <a:blip r:embed="rId2"/>
          <a:srcRect l="0" t="1011" r="0" b="1011"/>
          <a:stretch/>
        </p:blipFill>
        <p:spPr>
          <a:xfrm>
            <a:off x="9288360" y="272160"/>
            <a:ext cx="2518920" cy="222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" name="Google Shape;108;g2ec9d073a02_0_5"/>
          <p:cNvSpPr/>
          <p:nvPr/>
        </p:nvSpPr>
        <p:spPr>
          <a:xfrm>
            <a:off x="522360" y="929880"/>
            <a:ext cx="10947600" cy="49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2800" strike="noStrike" u="none">
                <a:solidFill>
                  <a:srgbClr val="082326"/>
                </a:solidFill>
                <a:uFillTx/>
                <a:latin typeface="Montserrat ExtraBold"/>
                <a:ea typeface="Montserrat ExtraBold"/>
              </a:rPr>
              <a:t>Разработка интернет-магазина </a:t>
            </a:r>
            <a:r>
              <a:rPr b="0" lang="en-US" sz="2800" strike="noStrike" u="none">
                <a:solidFill>
                  <a:srgbClr val="082326"/>
                </a:solidFill>
                <a:uFillTx/>
                <a:latin typeface="Montserrat ExtraBold"/>
                <a:ea typeface="Montserrat ExtraBold"/>
              </a:rPr>
              <a:t>DogFood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2" name="Google Shape;108;g2ec9d073a02_0_5"/>
          <p:cNvSpPr/>
          <p:nvPr/>
        </p:nvSpPr>
        <p:spPr>
          <a:xfrm>
            <a:off x="520920" y="1627200"/>
            <a:ext cx="10947600" cy="46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2600" strike="noStrike" u="none">
                <a:solidFill>
                  <a:srgbClr val="082326"/>
                </a:solidFill>
                <a:uFillTx/>
                <a:latin typeface="Montserrat SemiBold"/>
                <a:ea typeface="Montserrat ExtraBold"/>
              </a:rPr>
              <a:t>Используемые технологии</a:t>
            </a: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457200" y="2543400"/>
            <a:ext cx="4800600" cy="22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В разработке проекта использованы следующие npm пакеты и программы: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000" strike="noStrike" u="none">
                <a:solidFill>
                  <a:srgbClr val="000000"/>
                </a:solidFill>
                <a:uFillTx/>
                <a:latin typeface="Arial"/>
              </a:rPr>
              <a:t>1. для сборки – vite@7.2.2, vite-plugin-svgr@4.5.0, typescript@5.0.4, nodejs@22.19.0;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000" strike="noStrike" u="none">
                <a:solidFill>
                  <a:srgbClr val="000000"/>
                </a:solidFill>
                <a:uFillTx/>
                <a:latin typeface="Arial"/>
              </a:rPr>
              <a:t>2. для разработки – react@19.2.0, @mui/material@5.16.6;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000" strike="noStrike" u="none">
                <a:solidFill>
                  <a:srgbClr val="000000"/>
                </a:solidFill>
                <a:uFillTx/>
                <a:latin typeface="Arial"/>
              </a:rPr>
              <a:t>3. некоторые другие пакеты, например, react-hook-form, eslint.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106;g2ec9d073a02_0_5" descr=""/>
          <p:cNvPicPr/>
          <p:nvPr/>
        </p:nvPicPr>
        <p:blipFill>
          <a:blip r:embed="rId1"/>
          <a:srcRect l="0" t="183" r="0" b="183"/>
          <a:stretch/>
        </p:blipFill>
        <p:spPr>
          <a:xfrm>
            <a:off x="1080" y="0"/>
            <a:ext cx="12188880" cy="783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5" name="Google Shape;107;g2ec9d073a02_0_5" descr=""/>
          <p:cNvPicPr/>
          <p:nvPr/>
        </p:nvPicPr>
        <p:blipFill>
          <a:blip r:embed="rId2"/>
          <a:srcRect l="0" t="1011" r="0" b="1011"/>
          <a:stretch/>
        </p:blipFill>
        <p:spPr>
          <a:xfrm>
            <a:off x="9288360" y="272160"/>
            <a:ext cx="2518920" cy="222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6" name="Google Shape;108;g2ec9d073a02_0_5"/>
          <p:cNvSpPr/>
          <p:nvPr/>
        </p:nvSpPr>
        <p:spPr>
          <a:xfrm>
            <a:off x="522360" y="929880"/>
            <a:ext cx="10947600" cy="49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2800" strike="noStrike" u="none">
                <a:solidFill>
                  <a:srgbClr val="082326"/>
                </a:solidFill>
                <a:uFillTx/>
                <a:latin typeface="Montserrat ExtraBold"/>
                <a:ea typeface="Montserrat ExtraBold"/>
              </a:rPr>
              <a:t>Разработка интернет-магазина </a:t>
            </a:r>
            <a:r>
              <a:rPr b="0" lang="en-US" sz="2800" strike="noStrike" u="none">
                <a:solidFill>
                  <a:srgbClr val="082326"/>
                </a:solidFill>
                <a:uFillTx/>
                <a:latin typeface="Montserrat ExtraBold"/>
                <a:ea typeface="Montserrat ExtraBold"/>
              </a:rPr>
              <a:t>DogFood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7" name="Google Shape;108;g2ec9d073a02_0_5"/>
          <p:cNvSpPr/>
          <p:nvPr/>
        </p:nvSpPr>
        <p:spPr>
          <a:xfrm>
            <a:off x="520920" y="1627200"/>
            <a:ext cx="10947600" cy="46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2600" strike="noStrike" u="none">
                <a:solidFill>
                  <a:srgbClr val="082326"/>
                </a:solidFill>
                <a:uFillTx/>
                <a:latin typeface="Montserrat SemiBold"/>
                <a:ea typeface="Montserrat ExtraBold"/>
              </a:rPr>
              <a:t>Форма логина</a:t>
            </a: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78" name="" descr=""/>
          <p:cNvPicPr/>
          <p:nvPr/>
        </p:nvPicPr>
        <p:blipFill>
          <a:blip r:embed="rId3"/>
          <a:stretch/>
        </p:blipFill>
        <p:spPr>
          <a:xfrm>
            <a:off x="457200" y="3001680"/>
            <a:ext cx="2841840" cy="2256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" name="Google Shape;108;g2ec9d073a02_0_ 1"/>
          <p:cNvSpPr/>
          <p:nvPr/>
        </p:nvSpPr>
        <p:spPr>
          <a:xfrm>
            <a:off x="482400" y="2365920"/>
            <a:ext cx="10947600" cy="68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2000" strike="noStrike" u="none">
                <a:solidFill>
                  <a:srgbClr val="082326"/>
                </a:solidFill>
                <a:uFillTx/>
                <a:latin typeface="Montserrat ExtraLight"/>
                <a:ea typeface="Montserrat ExtraBold"/>
              </a:rPr>
              <a:t>Форма логина. 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2000" strike="noStrike" u="none">
                <a:solidFill>
                  <a:srgbClr val="082326"/>
                </a:solidFill>
                <a:uFillTx/>
                <a:latin typeface="Montserrat ExtraLight"/>
                <a:ea typeface="Montserrat ExtraBold"/>
              </a:rPr>
              <a:t>При переходе на страницу /signin, произойдет автофокус в поле Email Address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106;g2ec9d073a02_0_5" descr=""/>
          <p:cNvPicPr/>
          <p:nvPr/>
        </p:nvPicPr>
        <p:blipFill>
          <a:blip r:embed="rId1"/>
          <a:srcRect l="0" t="183" r="0" b="183"/>
          <a:stretch/>
        </p:blipFill>
        <p:spPr>
          <a:xfrm>
            <a:off x="1080" y="0"/>
            <a:ext cx="12188880" cy="783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1" name="Google Shape;107;g2ec9d073a02_0_5" descr=""/>
          <p:cNvPicPr/>
          <p:nvPr/>
        </p:nvPicPr>
        <p:blipFill>
          <a:blip r:embed="rId2"/>
          <a:srcRect l="0" t="1011" r="0" b="1011"/>
          <a:stretch/>
        </p:blipFill>
        <p:spPr>
          <a:xfrm>
            <a:off x="9288360" y="272160"/>
            <a:ext cx="2518920" cy="222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2" name="Google Shape;108;g2ec9d073a02_0_5"/>
          <p:cNvSpPr/>
          <p:nvPr/>
        </p:nvSpPr>
        <p:spPr>
          <a:xfrm>
            <a:off x="522360" y="929880"/>
            <a:ext cx="10947600" cy="49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2800" strike="noStrike" u="none">
                <a:solidFill>
                  <a:srgbClr val="082326"/>
                </a:solidFill>
                <a:uFillTx/>
                <a:latin typeface="Montserrat ExtraBold"/>
                <a:ea typeface="Montserrat ExtraBold"/>
              </a:rPr>
              <a:t>Разработка интернет-магазина </a:t>
            </a:r>
            <a:r>
              <a:rPr b="0" lang="en-US" sz="2800" strike="noStrike" u="none">
                <a:solidFill>
                  <a:srgbClr val="082326"/>
                </a:solidFill>
                <a:uFillTx/>
                <a:latin typeface="Montserrat ExtraBold"/>
                <a:ea typeface="Montserrat ExtraBold"/>
              </a:rPr>
              <a:t>DogFood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3" name="Google Shape;108;g2ec9d073a02_0_5"/>
          <p:cNvSpPr/>
          <p:nvPr/>
        </p:nvSpPr>
        <p:spPr>
          <a:xfrm>
            <a:off x="520920" y="1627200"/>
            <a:ext cx="10947600" cy="46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2600" strike="noStrike" u="none">
                <a:solidFill>
                  <a:srgbClr val="082326"/>
                </a:solidFill>
                <a:uFillTx/>
                <a:latin typeface="Montserrat SemiBold"/>
                <a:ea typeface="Montserrat ExtraBold"/>
              </a:rPr>
              <a:t>Страница каталога товаров </a:t>
            </a: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84" name="" descr=""/>
          <p:cNvPicPr/>
          <p:nvPr/>
        </p:nvPicPr>
        <p:blipFill>
          <a:blip r:embed="rId3"/>
          <a:stretch/>
        </p:blipFill>
        <p:spPr>
          <a:xfrm>
            <a:off x="457200" y="2286000"/>
            <a:ext cx="4838400" cy="4208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5" name=""/>
          <p:cNvSpPr txBox="1"/>
          <p:nvPr/>
        </p:nvSpPr>
        <p:spPr>
          <a:xfrm>
            <a:off x="5486400" y="2286000"/>
            <a:ext cx="5029200" cy="1626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При скролле подгружаются товары благодаря Intersection Observer API. 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Пользователю не нужно нажимать дополнительные кнопки чтобы увидеть больше товаров.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106;g2ec9d073a02_0_5" descr=""/>
          <p:cNvPicPr/>
          <p:nvPr/>
        </p:nvPicPr>
        <p:blipFill>
          <a:blip r:embed="rId1"/>
          <a:srcRect l="0" t="183" r="0" b="183"/>
          <a:stretch/>
        </p:blipFill>
        <p:spPr>
          <a:xfrm>
            <a:off x="1080" y="0"/>
            <a:ext cx="12188880" cy="783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7" name="Google Shape;107;g2ec9d073a02_0_5" descr=""/>
          <p:cNvPicPr/>
          <p:nvPr/>
        </p:nvPicPr>
        <p:blipFill>
          <a:blip r:embed="rId2"/>
          <a:srcRect l="0" t="1011" r="0" b="1011"/>
          <a:stretch/>
        </p:blipFill>
        <p:spPr>
          <a:xfrm>
            <a:off x="9288360" y="272160"/>
            <a:ext cx="2518920" cy="222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8" name="Google Shape;108;g2ec9d073a02_0_5"/>
          <p:cNvSpPr/>
          <p:nvPr/>
        </p:nvSpPr>
        <p:spPr>
          <a:xfrm>
            <a:off x="522360" y="929880"/>
            <a:ext cx="10947600" cy="49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2800" strike="noStrike" u="none">
                <a:solidFill>
                  <a:srgbClr val="082326"/>
                </a:solidFill>
                <a:uFillTx/>
                <a:latin typeface="Montserrat ExtraBold"/>
                <a:ea typeface="Montserrat ExtraBold"/>
              </a:rPr>
              <a:t>Разработка интернет-магазина </a:t>
            </a:r>
            <a:r>
              <a:rPr b="0" lang="en-US" sz="2800" strike="noStrike" u="none">
                <a:solidFill>
                  <a:srgbClr val="082326"/>
                </a:solidFill>
                <a:uFillTx/>
                <a:latin typeface="Montserrat ExtraBold"/>
                <a:ea typeface="Montserrat ExtraBold"/>
              </a:rPr>
              <a:t>DogFood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9" name="Google Shape;108;g2ec9d073a02_0_5"/>
          <p:cNvSpPr/>
          <p:nvPr/>
        </p:nvSpPr>
        <p:spPr>
          <a:xfrm>
            <a:off x="5486400" y="2277000"/>
            <a:ext cx="6016680" cy="68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2000" strike="noStrike" u="none">
                <a:solidFill>
                  <a:srgbClr val="082326"/>
                </a:solidFill>
                <a:uFillTx/>
                <a:latin typeface="Montserrat ExtraLight"/>
                <a:ea typeface="Montserrat ExtraBold"/>
              </a:rPr>
              <a:t>После обращения к поиску, обновляется список товаров.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0" name="Google Shape;108;g2ec9d073a02_0_5"/>
          <p:cNvSpPr/>
          <p:nvPr/>
        </p:nvSpPr>
        <p:spPr>
          <a:xfrm>
            <a:off x="520920" y="1627200"/>
            <a:ext cx="10947600" cy="46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2600" strike="noStrike" u="none">
                <a:solidFill>
                  <a:srgbClr val="082326"/>
                </a:solidFill>
                <a:uFillTx/>
                <a:latin typeface="Montserrat SemiBold"/>
                <a:ea typeface="Montserrat ExtraBold"/>
              </a:rPr>
              <a:t>Вид страницы товаров после обращения к поиску</a:t>
            </a: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91" name="" descr=""/>
          <p:cNvPicPr/>
          <p:nvPr/>
        </p:nvPicPr>
        <p:blipFill>
          <a:blip r:embed="rId3"/>
          <a:stretch/>
        </p:blipFill>
        <p:spPr>
          <a:xfrm>
            <a:off x="457200" y="2381760"/>
            <a:ext cx="4572000" cy="2716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2" name="" descr=""/>
          <p:cNvPicPr/>
          <p:nvPr/>
        </p:nvPicPr>
        <p:blipFill>
          <a:blip r:embed="rId4"/>
          <a:stretch/>
        </p:blipFill>
        <p:spPr>
          <a:xfrm>
            <a:off x="458280" y="5224680"/>
            <a:ext cx="4570920" cy="1176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3" name="Google Shape;108;g2ec9d073a02_0_ 2"/>
          <p:cNvSpPr/>
          <p:nvPr/>
        </p:nvSpPr>
        <p:spPr>
          <a:xfrm>
            <a:off x="5413320" y="5257800"/>
            <a:ext cx="6016680" cy="68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2000" strike="noStrike" u="none">
                <a:solidFill>
                  <a:srgbClr val="082326"/>
                </a:solidFill>
                <a:uFillTx/>
                <a:latin typeface="Montserrat ExtraLight"/>
                <a:ea typeface="Montserrat ExtraBold"/>
              </a:rPr>
              <a:t>Если товара нет, пользователь увидит соответствующее сообщение.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106;g2ec9d073a02_0_5" descr=""/>
          <p:cNvPicPr/>
          <p:nvPr/>
        </p:nvPicPr>
        <p:blipFill>
          <a:blip r:embed="rId1"/>
          <a:srcRect l="0" t="183" r="0" b="183"/>
          <a:stretch/>
        </p:blipFill>
        <p:spPr>
          <a:xfrm>
            <a:off x="1080" y="0"/>
            <a:ext cx="12188880" cy="783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5" name="Google Shape;107;g2ec9d073a02_0_5" descr=""/>
          <p:cNvPicPr/>
          <p:nvPr/>
        </p:nvPicPr>
        <p:blipFill>
          <a:blip r:embed="rId2"/>
          <a:srcRect l="0" t="1011" r="0" b="1011"/>
          <a:stretch/>
        </p:blipFill>
        <p:spPr>
          <a:xfrm>
            <a:off x="9288360" y="272160"/>
            <a:ext cx="2518920" cy="222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6" name="Google Shape;108;g2ec9d073a02_0_5"/>
          <p:cNvSpPr/>
          <p:nvPr/>
        </p:nvSpPr>
        <p:spPr>
          <a:xfrm>
            <a:off x="522360" y="929880"/>
            <a:ext cx="10947600" cy="49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2800" strike="noStrike" u="none">
                <a:solidFill>
                  <a:srgbClr val="082326"/>
                </a:solidFill>
                <a:uFillTx/>
                <a:latin typeface="Montserrat ExtraBold"/>
                <a:ea typeface="Montserrat ExtraBold"/>
              </a:rPr>
              <a:t>Разработка интернет-магазина </a:t>
            </a:r>
            <a:r>
              <a:rPr b="0" lang="en-US" sz="2800" strike="noStrike" u="none">
                <a:solidFill>
                  <a:srgbClr val="082326"/>
                </a:solidFill>
                <a:uFillTx/>
                <a:latin typeface="Montserrat ExtraBold"/>
                <a:ea typeface="Montserrat ExtraBold"/>
              </a:rPr>
              <a:t>DogFood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7" name="Google Shape;108;g2ec9d073a02_0_5"/>
          <p:cNvSpPr/>
          <p:nvPr/>
        </p:nvSpPr>
        <p:spPr>
          <a:xfrm>
            <a:off x="520920" y="1627200"/>
            <a:ext cx="10947600" cy="46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2600" strike="noStrike" u="none">
                <a:solidFill>
                  <a:srgbClr val="082326"/>
                </a:solidFill>
                <a:uFillTx/>
                <a:latin typeface="Montserrat SemiBold"/>
                <a:ea typeface="Montserrat ExtraBold"/>
              </a:rPr>
              <a:t>Вид карточки товара</a:t>
            </a: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98" name="" descr=""/>
          <p:cNvPicPr/>
          <p:nvPr/>
        </p:nvPicPr>
        <p:blipFill>
          <a:blip r:embed="rId3"/>
          <a:stretch/>
        </p:blipFill>
        <p:spPr>
          <a:xfrm>
            <a:off x="457200" y="2404080"/>
            <a:ext cx="1911600" cy="3310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9" name="" descr=""/>
          <p:cNvPicPr/>
          <p:nvPr/>
        </p:nvPicPr>
        <p:blipFill>
          <a:blip r:embed="rId4"/>
          <a:stretch/>
        </p:blipFill>
        <p:spPr>
          <a:xfrm>
            <a:off x="2971800" y="2286000"/>
            <a:ext cx="1758240" cy="3429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0" name=""/>
          <p:cNvSpPr txBox="1"/>
          <p:nvPr/>
        </p:nvSpPr>
        <p:spPr>
          <a:xfrm>
            <a:off x="5715000" y="2286000"/>
            <a:ext cx="4572000" cy="297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Карточка товара состоит из нескольких компонентов: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1. фото товара, тег, скидка, цена и описание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2. кнопки взаимодействия – “в корзину”, счетчик и кнопка добавления в избранное.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6;g2ec9d073a02_0_5" descr=""/>
          <p:cNvPicPr/>
          <p:nvPr/>
        </p:nvPicPr>
        <p:blipFill>
          <a:blip r:embed="rId1"/>
          <a:srcRect l="0" t="183" r="0" b="183"/>
          <a:stretch/>
        </p:blipFill>
        <p:spPr>
          <a:xfrm>
            <a:off x="1080" y="0"/>
            <a:ext cx="12188880" cy="783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2" name="Google Shape;107;g2ec9d073a02_0_5" descr=""/>
          <p:cNvPicPr/>
          <p:nvPr/>
        </p:nvPicPr>
        <p:blipFill>
          <a:blip r:embed="rId2"/>
          <a:srcRect l="0" t="1011" r="0" b="1011"/>
          <a:stretch/>
        </p:blipFill>
        <p:spPr>
          <a:xfrm>
            <a:off x="9288360" y="272160"/>
            <a:ext cx="2518920" cy="222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3" name="Google Shape;108;g2ec9d073a02_0_5"/>
          <p:cNvSpPr/>
          <p:nvPr/>
        </p:nvSpPr>
        <p:spPr>
          <a:xfrm>
            <a:off x="522360" y="929880"/>
            <a:ext cx="10947600" cy="49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2800" strike="noStrike" u="none">
                <a:solidFill>
                  <a:srgbClr val="082326"/>
                </a:solidFill>
                <a:uFillTx/>
                <a:latin typeface="Montserrat ExtraBold"/>
                <a:ea typeface="Montserrat ExtraBold"/>
              </a:rPr>
              <a:t>Разработка интернет-магазина </a:t>
            </a:r>
            <a:r>
              <a:rPr b="0" lang="en-US" sz="2800" strike="noStrike" u="none">
                <a:solidFill>
                  <a:srgbClr val="082326"/>
                </a:solidFill>
                <a:uFillTx/>
                <a:latin typeface="Montserrat ExtraBold"/>
                <a:ea typeface="Montserrat ExtraBold"/>
              </a:rPr>
              <a:t>DogFood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4" name="Google Shape;108;g2ec9d073a02_0_5"/>
          <p:cNvSpPr/>
          <p:nvPr/>
        </p:nvSpPr>
        <p:spPr>
          <a:xfrm>
            <a:off x="5029200" y="2277000"/>
            <a:ext cx="6473880" cy="159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2000" strike="noStrike" u="none">
                <a:solidFill>
                  <a:srgbClr val="082326"/>
                </a:solidFill>
                <a:uFillTx/>
                <a:latin typeface="Montserrat ExtraLight"/>
                <a:ea typeface="Montserrat ExtraBold"/>
              </a:rPr>
              <a:t>Блок отзыва о товаре состоит из нескольких компонентов: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2000" strike="noStrike" u="none">
                <a:solidFill>
                  <a:srgbClr val="082326"/>
                </a:solidFill>
                <a:uFillTx/>
                <a:latin typeface="Montserrat ExtraLight"/>
                <a:ea typeface="Montserrat ExtraBold"/>
              </a:rPr>
              <a:t>1. Никнейм пользователя, дата;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2000" strike="noStrike" u="none">
                <a:solidFill>
                  <a:srgbClr val="082326"/>
                </a:solidFill>
                <a:uFillTx/>
                <a:latin typeface="Montserrat ExtraLight"/>
                <a:ea typeface="Montserrat ExtraBold"/>
              </a:rPr>
              <a:t>2. Оценка (в звездах);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2000" strike="noStrike" u="none">
                <a:solidFill>
                  <a:srgbClr val="082326"/>
                </a:solidFill>
                <a:uFillTx/>
                <a:latin typeface="Montserrat ExtraLight"/>
                <a:ea typeface="Montserrat ExtraBold"/>
              </a:rPr>
              <a:t>3. Текстовый отзыв.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5" name="Google Shape;108;g2ec9d073a02_0_5"/>
          <p:cNvSpPr/>
          <p:nvPr/>
        </p:nvSpPr>
        <p:spPr>
          <a:xfrm>
            <a:off x="520920" y="1627200"/>
            <a:ext cx="10947600" cy="46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2600" strike="noStrike" u="none">
                <a:solidFill>
                  <a:srgbClr val="082326"/>
                </a:solidFill>
                <a:uFillTx/>
                <a:latin typeface="Montserrat SemiBold"/>
                <a:ea typeface="Montserrat ExtraBold"/>
              </a:rPr>
              <a:t>Блок отзывов карточки товара</a:t>
            </a: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06" name="" descr=""/>
          <p:cNvPicPr/>
          <p:nvPr/>
        </p:nvPicPr>
        <p:blipFill>
          <a:blip r:embed="rId3"/>
          <a:stretch/>
        </p:blipFill>
        <p:spPr>
          <a:xfrm>
            <a:off x="623880" y="2424960"/>
            <a:ext cx="2119320" cy="1232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7" name="" descr=""/>
          <p:cNvPicPr/>
          <p:nvPr/>
        </p:nvPicPr>
        <p:blipFill>
          <a:blip r:embed="rId4"/>
          <a:stretch/>
        </p:blipFill>
        <p:spPr>
          <a:xfrm>
            <a:off x="664560" y="4702680"/>
            <a:ext cx="3450240" cy="783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8" name=""/>
          <p:cNvSpPr txBox="1"/>
          <p:nvPr/>
        </p:nvSpPr>
        <p:spPr>
          <a:xfrm>
            <a:off x="5029200" y="4343400"/>
            <a:ext cx="5715000" cy="2138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Форма создания отзыва: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1. Описание товара;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2. Оценка (в звездах);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3. Текстовый отзыв;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4. Кнопка отправки;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После отправки, отзыв появляется в списке отзывов.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6;g2ec9d073a02_0_5" descr=""/>
          <p:cNvPicPr/>
          <p:nvPr/>
        </p:nvPicPr>
        <p:blipFill>
          <a:blip r:embed="rId1"/>
          <a:srcRect l="0" t="183" r="0" b="183"/>
          <a:stretch/>
        </p:blipFill>
        <p:spPr>
          <a:xfrm>
            <a:off x="1080" y="0"/>
            <a:ext cx="12188880" cy="783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0" name="Google Shape;107;g2ec9d073a02_0_5" descr=""/>
          <p:cNvPicPr/>
          <p:nvPr/>
        </p:nvPicPr>
        <p:blipFill>
          <a:blip r:embed="rId2"/>
          <a:srcRect l="0" t="1011" r="0" b="1011"/>
          <a:stretch/>
        </p:blipFill>
        <p:spPr>
          <a:xfrm>
            <a:off x="9288360" y="272160"/>
            <a:ext cx="2518920" cy="222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1" name="Google Shape;108;g2ec9d073a02_0_5"/>
          <p:cNvSpPr/>
          <p:nvPr/>
        </p:nvSpPr>
        <p:spPr>
          <a:xfrm>
            <a:off x="522360" y="929880"/>
            <a:ext cx="10947600" cy="49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2800" strike="noStrike" u="none">
                <a:solidFill>
                  <a:srgbClr val="082326"/>
                </a:solidFill>
                <a:uFillTx/>
                <a:latin typeface="Montserrat ExtraBold"/>
                <a:ea typeface="Montserrat ExtraBold"/>
              </a:rPr>
              <a:t>Разработка интернет-магазина </a:t>
            </a:r>
            <a:r>
              <a:rPr b="0" lang="en-US" sz="2800" strike="noStrike" u="none">
                <a:solidFill>
                  <a:srgbClr val="082326"/>
                </a:solidFill>
                <a:uFillTx/>
                <a:latin typeface="Montserrat ExtraBold"/>
                <a:ea typeface="Montserrat ExtraBold"/>
              </a:rPr>
              <a:t>DogFood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2" name="Google Shape;108;g2ec9d073a02_0_5"/>
          <p:cNvSpPr/>
          <p:nvPr/>
        </p:nvSpPr>
        <p:spPr>
          <a:xfrm>
            <a:off x="520920" y="1627200"/>
            <a:ext cx="10947600" cy="46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2600" strike="noStrike" u="none">
                <a:solidFill>
                  <a:srgbClr val="082326"/>
                </a:solidFill>
                <a:uFillTx/>
                <a:latin typeface="Montserrat SemiBold"/>
                <a:ea typeface="Montserrat ExtraBold"/>
              </a:rPr>
              <a:t>Корзина с товарами</a:t>
            </a: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13" name="" descr=""/>
          <p:cNvPicPr/>
          <p:nvPr/>
        </p:nvPicPr>
        <p:blipFill>
          <a:blip r:embed="rId3"/>
          <a:stretch/>
        </p:blipFill>
        <p:spPr>
          <a:xfrm>
            <a:off x="457200" y="2286000"/>
            <a:ext cx="7086600" cy="3663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06;g2ec9d073a02_0_5" descr=""/>
          <p:cNvPicPr/>
          <p:nvPr/>
        </p:nvPicPr>
        <p:blipFill>
          <a:blip r:embed="rId1"/>
          <a:srcRect l="0" t="183" r="0" b="183"/>
          <a:stretch/>
        </p:blipFill>
        <p:spPr>
          <a:xfrm>
            <a:off x="1080" y="0"/>
            <a:ext cx="12188880" cy="783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5" name="Google Shape;107;g2ec9d073a02_0_5" descr=""/>
          <p:cNvPicPr/>
          <p:nvPr/>
        </p:nvPicPr>
        <p:blipFill>
          <a:blip r:embed="rId2"/>
          <a:srcRect l="0" t="1011" r="0" b="1011"/>
          <a:stretch/>
        </p:blipFill>
        <p:spPr>
          <a:xfrm>
            <a:off x="9288360" y="272160"/>
            <a:ext cx="2518920" cy="222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6" name="Google Shape;108;g2ec9d073a02_0_5"/>
          <p:cNvSpPr/>
          <p:nvPr/>
        </p:nvSpPr>
        <p:spPr>
          <a:xfrm>
            <a:off x="522360" y="929880"/>
            <a:ext cx="10947600" cy="49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2800" strike="noStrike" u="none">
                <a:solidFill>
                  <a:srgbClr val="082326"/>
                </a:solidFill>
                <a:uFillTx/>
                <a:latin typeface="Montserrat ExtraBold"/>
                <a:ea typeface="Montserrat ExtraBold"/>
              </a:rPr>
              <a:t>Разработка интернет-магазина </a:t>
            </a:r>
            <a:r>
              <a:rPr b="0" lang="en-US" sz="2800" strike="noStrike" u="none">
                <a:solidFill>
                  <a:srgbClr val="082326"/>
                </a:solidFill>
                <a:uFillTx/>
                <a:latin typeface="Montserrat ExtraBold"/>
                <a:ea typeface="Montserrat ExtraBold"/>
              </a:rPr>
              <a:t>DogFood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7" name="Google Shape;108;g2ec9d073a02_0_5"/>
          <p:cNvSpPr/>
          <p:nvPr/>
        </p:nvSpPr>
        <p:spPr>
          <a:xfrm>
            <a:off x="6172200" y="2594880"/>
            <a:ext cx="4416480" cy="129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2000" strike="noStrike" u="none">
                <a:solidFill>
                  <a:srgbClr val="082326"/>
                </a:solidFill>
                <a:uFillTx/>
                <a:latin typeface="Montserrat ExtraLight"/>
                <a:ea typeface="Montserrat ExtraBold"/>
              </a:rPr>
              <a:t>Товары добавленные в избранное.</a:t>
            </a:r>
            <a:br>
              <a:rPr sz="2000"/>
            </a:br>
            <a:r>
              <a:rPr b="0" lang="ru-RU" sz="2000" strike="noStrike" u="none">
                <a:solidFill>
                  <a:srgbClr val="082326"/>
                </a:solidFill>
                <a:uFillTx/>
                <a:latin typeface="Montserrat ExtraLight"/>
                <a:ea typeface="Montserrat ExtraBold"/>
              </a:rPr>
              <a:t>Если товар добавлен в корзину, то появится соответствующий счетчик вместо кнопки “В корзину”.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8" name="Google Shape;108;g2ec9d073a02_0_5"/>
          <p:cNvSpPr/>
          <p:nvPr/>
        </p:nvSpPr>
        <p:spPr>
          <a:xfrm>
            <a:off x="520920" y="1627200"/>
            <a:ext cx="10947600" cy="46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2600" strike="noStrike" u="none">
                <a:solidFill>
                  <a:srgbClr val="082326"/>
                </a:solidFill>
                <a:uFillTx/>
                <a:latin typeface="Montserrat SemiBold"/>
                <a:ea typeface="Montserrat ExtraBold"/>
              </a:rPr>
              <a:t>Страница «Избранное»</a:t>
            </a: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19" name="" descr=""/>
          <p:cNvPicPr/>
          <p:nvPr/>
        </p:nvPicPr>
        <p:blipFill>
          <a:blip r:embed="rId3"/>
          <a:stretch/>
        </p:blipFill>
        <p:spPr>
          <a:xfrm>
            <a:off x="551520" y="2286000"/>
            <a:ext cx="5392080" cy="2971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06;g2ec9d073a02_0_5" descr=""/>
          <p:cNvPicPr/>
          <p:nvPr/>
        </p:nvPicPr>
        <p:blipFill>
          <a:blip r:embed="rId1"/>
          <a:srcRect l="0" t="183" r="0" b="183"/>
          <a:stretch/>
        </p:blipFill>
        <p:spPr>
          <a:xfrm>
            <a:off x="1080" y="0"/>
            <a:ext cx="12188880" cy="783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1" name="Google Shape;107;g2ec9d073a02_0_5" descr=""/>
          <p:cNvPicPr/>
          <p:nvPr/>
        </p:nvPicPr>
        <p:blipFill>
          <a:blip r:embed="rId2"/>
          <a:srcRect l="0" t="1011" r="0" b="1011"/>
          <a:stretch/>
        </p:blipFill>
        <p:spPr>
          <a:xfrm>
            <a:off x="9288360" y="272160"/>
            <a:ext cx="2518920" cy="222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2" name="Google Shape;108;g2ec9d073a02_0_5"/>
          <p:cNvSpPr/>
          <p:nvPr/>
        </p:nvSpPr>
        <p:spPr>
          <a:xfrm>
            <a:off x="522360" y="929880"/>
            <a:ext cx="10947600" cy="49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2800" strike="noStrike" u="none">
                <a:solidFill>
                  <a:srgbClr val="082326"/>
                </a:solidFill>
                <a:uFillTx/>
                <a:latin typeface="Montserrat ExtraBold"/>
                <a:ea typeface="Montserrat ExtraBold"/>
              </a:rPr>
              <a:t>Разработка интернет-магазина </a:t>
            </a:r>
            <a:r>
              <a:rPr b="0" lang="en-US" sz="2800" strike="noStrike" u="none">
                <a:solidFill>
                  <a:srgbClr val="082326"/>
                </a:solidFill>
                <a:uFillTx/>
                <a:latin typeface="Montserrat ExtraBold"/>
                <a:ea typeface="Montserrat ExtraBold"/>
              </a:rPr>
              <a:t>DogFood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3" name="Google Shape;108;g2ec9d073a02_0_5"/>
          <p:cNvSpPr/>
          <p:nvPr/>
        </p:nvSpPr>
        <p:spPr>
          <a:xfrm>
            <a:off x="5486400" y="2277000"/>
            <a:ext cx="6016680" cy="68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2000" strike="noStrike" u="none">
                <a:solidFill>
                  <a:srgbClr val="082326"/>
                </a:solidFill>
                <a:uFillTx/>
                <a:latin typeface="Montserrat ExtraLight"/>
                <a:ea typeface="Montserrat ExtraBold"/>
              </a:rPr>
              <a:t>Личный кабинет содержит краткую информацию о пользователе, а также функционал смены пароля.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4" name="Google Shape;108;g2ec9d073a02_0_5"/>
          <p:cNvSpPr/>
          <p:nvPr/>
        </p:nvSpPr>
        <p:spPr>
          <a:xfrm>
            <a:off x="520920" y="1627200"/>
            <a:ext cx="10947600" cy="46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2600" strike="noStrike" u="none">
                <a:solidFill>
                  <a:srgbClr val="082326"/>
                </a:solidFill>
                <a:uFillTx/>
                <a:latin typeface="Montserrat SemiBold"/>
                <a:ea typeface="Montserrat ExtraBold"/>
              </a:rPr>
              <a:t>Личный кабинет пользователя</a:t>
            </a: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25" name="" descr=""/>
          <p:cNvPicPr/>
          <p:nvPr/>
        </p:nvPicPr>
        <p:blipFill>
          <a:blip r:embed="rId3"/>
          <a:stretch/>
        </p:blipFill>
        <p:spPr>
          <a:xfrm>
            <a:off x="457200" y="2402280"/>
            <a:ext cx="4704480" cy="1941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06;g2ec9d073a02_0_5" descr=""/>
          <p:cNvPicPr/>
          <p:nvPr/>
        </p:nvPicPr>
        <p:blipFill>
          <a:blip r:embed="rId1"/>
          <a:srcRect l="0" t="183" r="0" b="183"/>
          <a:stretch/>
        </p:blipFill>
        <p:spPr>
          <a:xfrm>
            <a:off x="1080" y="0"/>
            <a:ext cx="12188880" cy="783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7" name="Google Shape;107;g2ec9d073a02_0_5" descr=""/>
          <p:cNvPicPr/>
          <p:nvPr/>
        </p:nvPicPr>
        <p:blipFill>
          <a:blip r:embed="rId2"/>
          <a:srcRect l="0" t="1011" r="0" b="1011"/>
          <a:stretch/>
        </p:blipFill>
        <p:spPr>
          <a:xfrm>
            <a:off x="9288360" y="272160"/>
            <a:ext cx="2518920" cy="222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8" name="Google Shape;108;g2ec9d073a02_0_5"/>
          <p:cNvSpPr/>
          <p:nvPr/>
        </p:nvSpPr>
        <p:spPr>
          <a:xfrm>
            <a:off x="522360" y="929880"/>
            <a:ext cx="10947600" cy="49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2800" strike="noStrike" u="none">
                <a:solidFill>
                  <a:srgbClr val="082326"/>
                </a:solidFill>
                <a:uFillTx/>
                <a:latin typeface="Montserrat ExtraBold"/>
                <a:ea typeface="Montserrat ExtraBold"/>
              </a:rPr>
              <a:t>Разработка интернет-магазина </a:t>
            </a:r>
            <a:r>
              <a:rPr b="0" lang="en-US" sz="2800" strike="noStrike" u="none">
                <a:solidFill>
                  <a:srgbClr val="082326"/>
                </a:solidFill>
                <a:uFillTx/>
                <a:latin typeface="Montserrat ExtraBold"/>
                <a:ea typeface="Montserrat ExtraBold"/>
              </a:rPr>
              <a:t>DogFood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9" name="Google Shape;108;g2ec9d073a02_0_5"/>
          <p:cNvSpPr/>
          <p:nvPr/>
        </p:nvSpPr>
        <p:spPr>
          <a:xfrm>
            <a:off x="322920" y="2277000"/>
            <a:ext cx="6306480" cy="68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2000" strike="noStrike" u="none">
                <a:solidFill>
                  <a:srgbClr val="082326"/>
                </a:solidFill>
                <a:uFillTx/>
                <a:latin typeface="Montserrat ExtraLight"/>
                <a:ea typeface="Montserrat ExtraBold"/>
              </a:rPr>
              <a:t>Сборка с помощью Webpack 5.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2000" strike="noStrike" u="none">
                <a:solidFill>
                  <a:srgbClr val="082326"/>
                </a:solidFill>
                <a:uFillTx/>
                <a:latin typeface="Montserrat ExtraLight"/>
                <a:ea typeface="Montserrat ExtraBold"/>
              </a:rPr>
              <a:t>Заняла 17,5 секунд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0" name="Google Shape;108;g2ec9d073a02_0_5"/>
          <p:cNvSpPr/>
          <p:nvPr/>
        </p:nvSpPr>
        <p:spPr>
          <a:xfrm>
            <a:off x="520920" y="1627200"/>
            <a:ext cx="10947600" cy="86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600" strike="noStrike" u="none">
                <a:solidFill>
                  <a:srgbClr val="082326"/>
                </a:solidFill>
                <a:uFillTx/>
                <a:latin typeface="Montserrat SemiBold"/>
                <a:ea typeface="Montserrat ExtraBold"/>
              </a:rPr>
              <a:t>Сборка проекта</a:t>
            </a: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31" name="" descr=""/>
          <p:cNvPicPr/>
          <p:nvPr/>
        </p:nvPicPr>
        <p:blipFill>
          <a:blip r:embed="rId3"/>
          <a:stretch/>
        </p:blipFill>
        <p:spPr>
          <a:xfrm>
            <a:off x="322920" y="2971800"/>
            <a:ext cx="6288120" cy="2971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2" name="" descr=""/>
          <p:cNvPicPr/>
          <p:nvPr/>
        </p:nvPicPr>
        <p:blipFill>
          <a:blip r:embed="rId4"/>
          <a:stretch/>
        </p:blipFill>
        <p:spPr>
          <a:xfrm>
            <a:off x="6755040" y="2971800"/>
            <a:ext cx="5360760" cy="1416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3" name="Google Shape;108;g2ec9d073a02_0_ 6"/>
          <p:cNvSpPr/>
          <p:nvPr/>
        </p:nvSpPr>
        <p:spPr>
          <a:xfrm>
            <a:off x="6755040" y="2286000"/>
            <a:ext cx="5257800" cy="68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2000" strike="noStrike" u="none">
                <a:solidFill>
                  <a:srgbClr val="082326"/>
                </a:solidFill>
                <a:uFillTx/>
                <a:latin typeface="Montserrat ExtraLight"/>
                <a:ea typeface="Montserrat ExtraBold"/>
              </a:rPr>
              <a:t>Сборка с помощью Vite.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2000" strike="noStrike" u="none">
                <a:solidFill>
                  <a:srgbClr val="082326"/>
                </a:solidFill>
                <a:uFillTx/>
                <a:latin typeface="Montserrat ExtraLight"/>
                <a:ea typeface="Montserrat ExtraBold"/>
              </a:rPr>
              <a:t>Заняла 5,18 секунд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4" name="Google Shape;108;g2ec9d073a02_0_ 7"/>
          <p:cNvSpPr/>
          <p:nvPr/>
        </p:nvSpPr>
        <p:spPr>
          <a:xfrm>
            <a:off x="6858000" y="4499640"/>
            <a:ext cx="5257800" cy="220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2000" strike="noStrike" u="none">
                <a:solidFill>
                  <a:srgbClr val="082326"/>
                </a:solidFill>
                <a:uFillTx/>
                <a:latin typeface="Montserrat ExtraLight"/>
                <a:ea typeface="Montserrat ExtraBold"/>
              </a:rPr>
              <a:t>Vite под капотом использует esbuild, который работает быстрее, чем Webpack. 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2000" strike="noStrike" u="none">
                <a:solidFill>
                  <a:srgbClr val="082326"/>
                </a:solidFill>
                <a:uFillTx/>
                <a:latin typeface="Montserrat ExtraLight"/>
                <a:ea typeface="Montserrat ExtraBold"/>
              </a:rPr>
              <a:t>В результате Vite обгоняет Webpack по производительности, что делает Vite более предпочтительным для данного проекта из-за скорости сборки.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06;g2ec9d073a02_0_ 1" descr=""/>
          <p:cNvPicPr/>
          <p:nvPr/>
        </p:nvPicPr>
        <p:blipFill>
          <a:blip r:embed="rId1"/>
          <a:srcRect l="0" t="183" r="0" b="183"/>
          <a:stretch/>
        </p:blipFill>
        <p:spPr>
          <a:xfrm>
            <a:off x="1080" y="0"/>
            <a:ext cx="12188880" cy="783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6" name="Google Shape;107;g2ec9d073a02_0_ 1" descr=""/>
          <p:cNvPicPr/>
          <p:nvPr/>
        </p:nvPicPr>
        <p:blipFill>
          <a:blip r:embed="rId2"/>
          <a:srcRect l="0" t="1011" r="0" b="1011"/>
          <a:stretch/>
        </p:blipFill>
        <p:spPr>
          <a:xfrm>
            <a:off x="9288360" y="272160"/>
            <a:ext cx="2518920" cy="222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7" name="Google Shape;108;g2ec9d073a02_0_ 3"/>
          <p:cNvSpPr/>
          <p:nvPr/>
        </p:nvSpPr>
        <p:spPr>
          <a:xfrm>
            <a:off x="522360" y="929880"/>
            <a:ext cx="10947600" cy="49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2800" strike="noStrike" u="none">
                <a:solidFill>
                  <a:srgbClr val="082326"/>
                </a:solidFill>
                <a:uFillTx/>
                <a:latin typeface="Montserrat ExtraBold"/>
                <a:ea typeface="Montserrat ExtraBold"/>
              </a:rPr>
              <a:t>Разработка интернет-магазина </a:t>
            </a:r>
            <a:r>
              <a:rPr b="0" lang="en-US" sz="2800" strike="noStrike" u="none">
                <a:solidFill>
                  <a:srgbClr val="082326"/>
                </a:solidFill>
                <a:uFillTx/>
                <a:latin typeface="Montserrat ExtraBold"/>
                <a:ea typeface="Montserrat ExtraBold"/>
              </a:rPr>
              <a:t>DogFood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8" name="Google Shape;108;g2ec9d073a02_0_ 4"/>
          <p:cNvSpPr/>
          <p:nvPr/>
        </p:nvSpPr>
        <p:spPr>
          <a:xfrm>
            <a:off x="555480" y="2277000"/>
            <a:ext cx="3330720" cy="37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2000" strike="noStrike" u="none">
                <a:solidFill>
                  <a:srgbClr val="082326"/>
                </a:solidFill>
                <a:uFillTx/>
                <a:latin typeface="Montserrat ExtraLight"/>
                <a:ea typeface="Montserrat ExtraBold"/>
              </a:rPr>
              <a:t>Пример тоста с ошибкой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9" name="Google Shape;108;g2ec9d073a02_0_ 5"/>
          <p:cNvSpPr/>
          <p:nvPr/>
        </p:nvSpPr>
        <p:spPr>
          <a:xfrm>
            <a:off x="520920" y="1627200"/>
            <a:ext cx="10947600" cy="86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600" strike="noStrike" u="none">
                <a:solidFill>
                  <a:srgbClr val="082326"/>
                </a:solidFill>
                <a:uFillTx/>
                <a:latin typeface="Montserrat SemiBold"/>
                <a:ea typeface="Montserrat ExtraBold"/>
              </a:rPr>
              <a:t>React toastify – </a:t>
            </a:r>
            <a:r>
              <a:rPr b="0" lang="ru-RU" sz="2600" strike="noStrike" u="none">
                <a:solidFill>
                  <a:srgbClr val="082326"/>
                </a:solidFill>
                <a:uFillTx/>
                <a:latin typeface="Montserrat SemiBold"/>
                <a:ea typeface="Montserrat ExtraBold"/>
              </a:rPr>
              <a:t>примеры уведомлений</a:t>
            </a: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40" name="" descr=""/>
          <p:cNvPicPr/>
          <p:nvPr/>
        </p:nvPicPr>
        <p:blipFill>
          <a:blip r:embed="rId3"/>
          <a:stretch/>
        </p:blipFill>
        <p:spPr>
          <a:xfrm>
            <a:off x="914400" y="2814840"/>
            <a:ext cx="1954440" cy="3585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1" name="" descr=""/>
          <p:cNvPicPr/>
          <p:nvPr/>
        </p:nvPicPr>
        <p:blipFill>
          <a:blip r:embed="rId4"/>
          <a:stretch/>
        </p:blipFill>
        <p:spPr>
          <a:xfrm>
            <a:off x="4530960" y="2854440"/>
            <a:ext cx="3012840" cy="80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2" name="Google Shape;108;g2ec9d073a02_0_ 8"/>
          <p:cNvSpPr/>
          <p:nvPr/>
        </p:nvSpPr>
        <p:spPr>
          <a:xfrm>
            <a:off x="4441680" y="2286000"/>
            <a:ext cx="3330720" cy="37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2000" strike="noStrike" u="none">
                <a:solidFill>
                  <a:srgbClr val="082326"/>
                </a:solidFill>
                <a:uFillTx/>
                <a:latin typeface="Montserrat ExtraLight"/>
                <a:ea typeface="Montserrat ExtraBold"/>
              </a:rPr>
              <a:t>Пример тоста с успехом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73;p2" descr=""/>
          <p:cNvPicPr/>
          <p:nvPr/>
        </p:nvPicPr>
        <p:blipFill>
          <a:blip r:embed="rId1"/>
          <a:srcRect l="0" t="183" r="0" b="183"/>
          <a:stretch/>
        </p:blipFill>
        <p:spPr>
          <a:xfrm>
            <a:off x="1080" y="0"/>
            <a:ext cx="12188880" cy="783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4" name="Google Shape;74;p2" descr=""/>
          <p:cNvPicPr/>
          <p:nvPr/>
        </p:nvPicPr>
        <p:blipFill>
          <a:blip r:embed="rId2"/>
          <a:srcRect l="0" t="1011" r="0" b="1011"/>
          <a:stretch/>
        </p:blipFill>
        <p:spPr>
          <a:xfrm>
            <a:off x="9288360" y="272160"/>
            <a:ext cx="2518920" cy="222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5" name="Google Shape;75;p2"/>
          <p:cNvSpPr/>
          <p:nvPr/>
        </p:nvSpPr>
        <p:spPr>
          <a:xfrm>
            <a:off x="522360" y="929880"/>
            <a:ext cx="10947600" cy="49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2800" strike="noStrike" u="none">
                <a:solidFill>
                  <a:srgbClr val="082326"/>
                </a:solidFill>
                <a:uFillTx/>
                <a:latin typeface="Montserrat ExtraBold"/>
                <a:ea typeface="Montserrat ExtraBold"/>
              </a:rPr>
              <a:t>Shortlist кандидатов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6" name="Google Shape;76;p2"/>
          <p:cNvSpPr/>
          <p:nvPr/>
        </p:nvSpPr>
        <p:spPr>
          <a:xfrm>
            <a:off x="527400" y="1364040"/>
            <a:ext cx="10942920" cy="62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1800" strike="noStrike" u="none">
                <a:solidFill>
                  <a:schemeClr val="dk1"/>
                </a:solidFill>
                <a:uFillTx/>
                <a:latin typeface="Play"/>
                <a:ea typeface="Play"/>
              </a:rPr>
              <a:t>Придумайте 3-5 вариантов задач, которые могли бы стать вашим финальным проектом на курсе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147" name="Google Shape;77;p2"/>
          <p:cNvCxnSpPr/>
          <p:nvPr/>
        </p:nvCxnSpPr>
        <p:spPr>
          <a:xfrm>
            <a:off x="0" y="3450240"/>
            <a:ext cx="12329280" cy="1080"/>
          </a:xfrm>
          <a:prstGeom prst="straightConnector1">
            <a:avLst/>
          </a:prstGeom>
          <a:ln w="12700">
            <a:solidFill>
              <a:srgbClr val="d0cece"/>
            </a:solidFill>
            <a:prstDash val="dash"/>
            <a:round/>
          </a:ln>
        </p:spPr>
      </p:cxnSp>
      <p:cxnSp>
        <p:nvCxnSpPr>
          <p:cNvPr id="148" name="Google Shape;78;p2"/>
          <p:cNvCxnSpPr/>
          <p:nvPr/>
        </p:nvCxnSpPr>
        <p:spPr>
          <a:xfrm>
            <a:off x="0" y="4163040"/>
            <a:ext cx="12329280" cy="1080"/>
          </a:xfrm>
          <a:prstGeom prst="straightConnector1">
            <a:avLst/>
          </a:prstGeom>
          <a:ln w="12700">
            <a:solidFill>
              <a:srgbClr val="d0cece"/>
            </a:solidFill>
            <a:prstDash val="dash"/>
            <a:round/>
          </a:ln>
        </p:spPr>
      </p:cxnSp>
      <p:cxnSp>
        <p:nvCxnSpPr>
          <p:cNvPr id="149" name="Google Shape;79;p2"/>
          <p:cNvCxnSpPr/>
          <p:nvPr/>
        </p:nvCxnSpPr>
        <p:spPr>
          <a:xfrm>
            <a:off x="0" y="4875840"/>
            <a:ext cx="12329280" cy="1080"/>
          </a:xfrm>
          <a:prstGeom prst="straightConnector1">
            <a:avLst/>
          </a:prstGeom>
          <a:ln w="12700">
            <a:solidFill>
              <a:srgbClr val="d0cece"/>
            </a:solidFill>
            <a:prstDash val="dash"/>
            <a:round/>
          </a:ln>
        </p:spPr>
      </p:cxnSp>
      <p:sp>
        <p:nvSpPr>
          <p:cNvPr id="150" name="Google Shape;80;p2"/>
          <p:cNvSpPr/>
          <p:nvPr/>
        </p:nvSpPr>
        <p:spPr>
          <a:xfrm>
            <a:off x="522360" y="2203200"/>
            <a:ext cx="2007360" cy="28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400" strike="noStrike" u="none">
                <a:solidFill>
                  <a:schemeClr val="dk1"/>
                </a:solidFill>
                <a:uFillTx/>
                <a:latin typeface="Play"/>
                <a:ea typeface="Play"/>
              </a:rPr>
              <a:t>Название проекта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1" name="Google Shape;81;p2"/>
          <p:cNvSpPr/>
          <p:nvPr/>
        </p:nvSpPr>
        <p:spPr>
          <a:xfrm>
            <a:off x="4216680" y="2203200"/>
            <a:ext cx="2701800" cy="28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400" strike="noStrike" u="none">
                <a:solidFill>
                  <a:schemeClr val="dk1"/>
                </a:solidFill>
                <a:uFillTx/>
                <a:latin typeface="Play"/>
                <a:ea typeface="Play"/>
              </a:rPr>
              <a:t>Какую бизнес-задачу решаем?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2" name="Google Shape;82;p2"/>
          <p:cNvSpPr/>
          <p:nvPr/>
        </p:nvSpPr>
        <p:spPr>
          <a:xfrm>
            <a:off x="8605080" y="2203200"/>
            <a:ext cx="3359880" cy="65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400" strike="noStrike" u="none">
                <a:solidFill>
                  <a:schemeClr val="dk1"/>
                </a:solidFill>
                <a:uFillTx/>
                <a:latin typeface="Play"/>
                <a:ea typeface="Play"/>
              </a:rPr>
              <a:t>Краткое описание </a:t>
            </a:r>
            <a:br>
              <a:rPr sz="1400"/>
            </a:br>
            <a:r>
              <a:rPr b="1" lang="ru-RU" sz="1200" strike="noStrike" u="none">
                <a:solidFill>
                  <a:schemeClr val="dk1"/>
                </a:solidFill>
                <a:uFillTx/>
                <a:latin typeface="Play"/>
                <a:ea typeface="Play"/>
              </a:rPr>
              <a:t>(по возможности укажите какие AI модели планируете использовать)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153" name="Google Shape;83;p2"/>
          <p:cNvCxnSpPr/>
          <p:nvPr/>
        </p:nvCxnSpPr>
        <p:spPr>
          <a:xfrm>
            <a:off x="87840" y="5588280"/>
            <a:ext cx="12329280" cy="1080"/>
          </a:xfrm>
          <a:prstGeom prst="straightConnector1">
            <a:avLst/>
          </a:prstGeom>
          <a:ln w="12700">
            <a:solidFill>
              <a:srgbClr val="d0cece"/>
            </a:solidFill>
            <a:prstDash val="dash"/>
            <a:round/>
          </a:ln>
        </p:spPr>
      </p:cxnSp>
      <p:cxnSp>
        <p:nvCxnSpPr>
          <p:cNvPr id="154" name="Google Shape;84;p2"/>
          <p:cNvCxnSpPr/>
          <p:nvPr/>
        </p:nvCxnSpPr>
        <p:spPr>
          <a:xfrm flipV="1">
            <a:off x="3345480" y="2670840"/>
            <a:ext cx="1080" cy="3853080"/>
          </a:xfrm>
          <a:prstGeom prst="straightConnector1">
            <a:avLst/>
          </a:prstGeom>
          <a:ln w="12700">
            <a:solidFill>
              <a:srgbClr val="d0cece"/>
            </a:solidFill>
            <a:prstDash val="dash"/>
            <a:round/>
          </a:ln>
        </p:spPr>
      </p:cxnSp>
      <p:cxnSp>
        <p:nvCxnSpPr>
          <p:cNvPr id="155" name="Google Shape;85;p2"/>
          <p:cNvCxnSpPr/>
          <p:nvPr/>
        </p:nvCxnSpPr>
        <p:spPr>
          <a:xfrm flipV="1">
            <a:off x="7704000" y="2670840"/>
            <a:ext cx="1080" cy="3853080"/>
          </a:xfrm>
          <a:prstGeom prst="straightConnector1">
            <a:avLst/>
          </a:prstGeom>
          <a:ln w="12700">
            <a:solidFill>
              <a:srgbClr val="d0cece"/>
            </a:solidFill>
            <a:prstDash val="dash"/>
            <a:round/>
          </a:ln>
        </p:spPr>
      </p:cxnSp>
      <p:pic>
        <p:nvPicPr>
          <p:cNvPr id="156" name="Google Shape;86;p2" descr=""/>
          <p:cNvPicPr/>
          <p:nvPr/>
        </p:nvPicPr>
        <p:blipFill>
          <a:blip r:embed="rId3"/>
          <a:srcRect l="10" t="0" r="8" b="0"/>
          <a:stretch/>
        </p:blipFill>
        <p:spPr>
          <a:xfrm>
            <a:off x="1080" y="0"/>
            <a:ext cx="12188880" cy="6856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7" name="Google Shape;88;p2"/>
          <p:cNvSpPr/>
          <p:nvPr/>
        </p:nvSpPr>
        <p:spPr>
          <a:xfrm>
            <a:off x="635040" y="1991160"/>
            <a:ext cx="8899920" cy="180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 defTabSz="914400">
              <a:lnSpc>
                <a:spcPct val="118000"/>
              </a:lnSpc>
              <a:tabLst>
                <a:tab algn="l" pos="0"/>
              </a:tabLst>
            </a:pPr>
            <a:r>
              <a:rPr b="1" lang="ru-RU" sz="5400" strike="noStrike" u="none">
                <a:solidFill>
                  <a:srgbClr val="082326"/>
                </a:solidFill>
                <a:uFillTx/>
                <a:latin typeface="Montserrat"/>
                <a:ea typeface="Montserrat"/>
              </a:rPr>
              <a:t>Выводы</a:t>
            </a:r>
            <a:endParaRPr b="0" lang="en-US" sz="5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algn="l" pos="0"/>
              </a:tabLst>
            </a:pPr>
            <a:endParaRPr b="0" lang="en-US" sz="3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06;g2ec9d073a02_0_5" descr=""/>
          <p:cNvPicPr/>
          <p:nvPr/>
        </p:nvPicPr>
        <p:blipFill>
          <a:blip r:embed="rId1"/>
          <a:srcRect l="0" t="183" r="0" b="183"/>
          <a:stretch/>
        </p:blipFill>
        <p:spPr>
          <a:xfrm>
            <a:off x="1080" y="0"/>
            <a:ext cx="12188880" cy="783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9" name="Google Shape;107;g2ec9d073a02_0_5" descr=""/>
          <p:cNvPicPr/>
          <p:nvPr/>
        </p:nvPicPr>
        <p:blipFill>
          <a:blip r:embed="rId2"/>
          <a:srcRect l="0" t="1011" r="0" b="1011"/>
          <a:stretch/>
        </p:blipFill>
        <p:spPr>
          <a:xfrm>
            <a:off x="9288360" y="272160"/>
            <a:ext cx="2518920" cy="222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0" name="Google Shape;108;g2ec9d073a02_0_5"/>
          <p:cNvSpPr/>
          <p:nvPr/>
        </p:nvSpPr>
        <p:spPr>
          <a:xfrm>
            <a:off x="522360" y="929880"/>
            <a:ext cx="10947600" cy="92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2800" strike="noStrike" u="none">
                <a:solidFill>
                  <a:srgbClr val="082326"/>
                </a:solidFill>
                <a:uFillTx/>
                <a:latin typeface="Montserrat ExtraBold"/>
                <a:ea typeface="Montserrat ExtraBold"/>
              </a:rPr>
              <a:t>Выводы по итогу обучения по программе «Разработка на ReactJS: продвинутый уровень»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1" name="Google Shape;108;g2ec9d073a02_0_5"/>
          <p:cNvSpPr/>
          <p:nvPr/>
        </p:nvSpPr>
        <p:spPr>
          <a:xfrm>
            <a:off x="522360" y="1772640"/>
            <a:ext cx="10947600" cy="244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2600" strike="noStrike" u="none">
                <a:solidFill>
                  <a:srgbClr val="082326"/>
                </a:solidFill>
                <a:uFillTx/>
                <a:latin typeface="Montserrat SemiBold"/>
                <a:ea typeface="Montserrat ExtraBold"/>
              </a:rPr>
              <a:t>Опишите:</a:t>
            </a: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indent="-457200" defTabSz="914400">
              <a:lnSpc>
                <a:spcPct val="100000"/>
              </a:lnSpc>
              <a:buClr>
                <a:srgbClr val="082326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600" strike="noStrike" u="none">
                <a:solidFill>
                  <a:srgbClr val="082326"/>
                </a:solidFill>
                <a:uFillTx/>
                <a:latin typeface="Montserrat SemiBold"/>
                <a:ea typeface="Montserrat ExtraBold"/>
              </a:rPr>
              <a:t>чему научились на программе;</a:t>
            </a: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indent="-457200" defTabSz="914400">
              <a:lnSpc>
                <a:spcPct val="100000"/>
              </a:lnSpc>
              <a:buClr>
                <a:srgbClr val="082326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600" strike="noStrike" u="none">
                <a:solidFill>
                  <a:srgbClr val="082326"/>
                </a:solidFill>
                <a:uFillTx/>
                <a:latin typeface="Montserrat SemiBold"/>
                <a:ea typeface="Montserrat ExtraBold"/>
              </a:rPr>
              <a:t>с какими сложностями столкнулись;</a:t>
            </a: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indent="-457200" defTabSz="914400">
              <a:lnSpc>
                <a:spcPct val="100000"/>
              </a:lnSpc>
              <a:buClr>
                <a:srgbClr val="082326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600" strike="noStrike" u="none">
                <a:solidFill>
                  <a:srgbClr val="082326"/>
                </a:solidFill>
                <a:uFillTx/>
                <a:latin typeface="Montserrat SemiBold"/>
                <a:ea typeface="Montserrat ExtraBold"/>
              </a:rPr>
              <a:t>какие темы хотели бы изучить глубже, что добавили бы в проект</a:t>
            </a: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2" name=""/>
          <p:cNvSpPr txBox="1"/>
          <p:nvPr/>
        </p:nvSpPr>
        <p:spPr>
          <a:xfrm>
            <a:off x="685800" y="4114800"/>
            <a:ext cx="9144000" cy="228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000" strike="noStrike" u="none">
                <a:solidFill>
                  <a:srgbClr val="000000"/>
                </a:solidFill>
                <a:uFillTx/>
                <a:latin typeface="Arial"/>
              </a:rPr>
              <a:t>1. Чему научился. Освоил новые хуки React 19, детально изучил инструменты для устранения ререндеров и просадок производительности, разобрался как правильно использовать порталы.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  <a:p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000" strike="noStrike" u="none">
                <a:solidFill>
                  <a:srgbClr val="000000"/>
                </a:solidFill>
                <a:uFillTx/>
                <a:latin typeface="Arial"/>
              </a:rPr>
              <a:t>2. Небольшая сложность возникла при переезде с Webpack на Vite из-за особенностей сборок. Для Vite пришлось прикручивать пакет vite-plugin-svgr, чтобы использовать svg компоненты в JSX с минимальными правками в коде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  <a:p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000" strike="noStrike" u="none">
                <a:solidFill>
                  <a:srgbClr val="000000"/>
                </a:solidFill>
                <a:uFillTx/>
                <a:latin typeface="Arial"/>
              </a:rPr>
              <a:t>3. Хотелось бы погрузиться в серверный рендеринг - его правильную настройку и использование. Конечно есть фреймворк nextjs, но было бы неплохо изучить подкапотную часть серверного рендеринга. </a:t>
            </a:r>
            <a:br>
              <a:rPr sz="1000"/>
            </a:br>
            <a:r>
              <a:rPr b="0" lang="en-US" sz="1000" strike="noStrike" u="none">
                <a:solidFill>
                  <a:srgbClr val="000000"/>
                </a:solidFill>
                <a:uFillTx/>
                <a:latin typeface="Arial"/>
              </a:rPr>
              <a:t> 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000" strike="noStrike" u="none">
                <a:solidFill>
                  <a:srgbClr val="000000"/>
                </a:solidFill>
                <a:uFillTx/>
                <a:latin typeface="Arial"/>
              </a:rPr>
              <a:t>3.1. Также было бы интересно изучить стриминговую часть – протокол webrtc, например.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06;g2ec9d073a02_0_5" descr=""/>
          <p:cNvPicPr/>
          <p:nvPr/>
        </p:nvPicPr>
        <p:blipFill>
          <a:blip r:embed="rId1"/>
          <a:srcRect l="0" t="183" r="0" b="183"/>
          <a:stretch/>
        </p:blipFill>
        <p:spPr>
          <a:xfrm>
            <a:off x="1080" y="0"/>
            <a:ext cx="12188880" cy="783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4" name="Google Shape;107;g2ec9d073a02_0_5" descr=""/>
          <p:cNvPicPr/>
          <p:nvPr/>
        </p:nvPicPr>
        <p:blipFill>
          <a:blip r:embed="rId2"/>
          <a:srcRect l="0" t="1011" r="0" b="1011"/>
          <a:stretch/>
        </p:blipFill>
        <p:spPr>
          <a:xfrm>
            <a:off x="9288360" y="272160"/>
            <a:ext cx="2518920" cy="222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5" name="Google Shape;108;g2ec9d073a02_0_5"/>
          <p:cNvSpPr/>
          <p:nvPr/>
        </p:nvSpPr>
        <p:spPr>
          <a:xfrm>
            <a:off x="522360" y="929880"/>
            <a:ext cx="10947600" cy="49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2800" strike="noStrike" u="none">
                <a:solidFill>
                  <a:srgbClr val="082326"/>
                </a:solidFill>
                <a:uFillTx/>
                <a:latin typeface="Montserrat ExtraBold"/>
                <a:ea typeface="Montserrat ExtraBold"/>
              </a:rPr>
              <a:t>Список используемых источников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6" name=""/>
          <p:cNvSpPr txBox="1"/>
          <p:nvPr/>
        </p:nvSpPr>
        <p:spPr>
          <a:xfrm>
            <a:off x="685800" y="2514600"/>
            <a:ext cx="5715000" cy="228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1. https://react.dev/ Документация React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2. https://vite.dev/ - Документация Vite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Arial" pitchFamily="0" charset="1"/>
        <a:cs typeface="Arial" pitchFamily="0" charset="1"/>
      </a:majorFont>
      <a:minorFont>
        <a:latin typeface="Arial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0" t="0" r="0" b="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0" t="0" r="0" b="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Arial" pitchFamily="0" charset="1"/>
        <a:cs typeface="Arial" pitchFamily="0" charset="1"/>
      </a:majorFont>
      <a:minorFont>
        <a:latin typeface="Arial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0" t="0" r="0" b="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0" t="0" r="0" b="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Arial" pitchFamily="0" charset="1"/>
        <a:cs typeface="Arial" pitchFamily="0" charset="1"/>
      </a:majorFont>
      <a:minorFont>
        <a:latin typeface="Arial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0" t="0" r="0" b="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0" t="0" r="0" b="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Arial" pitchFamily="0" charset="1"/>
        <a:cs typeface="Arial" pitchFamily="0" charset="1"/>
      </a:majorFont>
      <a:minorFont>
        <a:latin typeface="Arial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0" t="0" r="0" b="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0" t="0" r="0" b="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Arial" pitchFamily="0" charset="1"/>
        <a:cs typeface="Arial" pitchFamily="0" charset="1"/>
      </a:majorFont>
      <a:minorFont>
        <a:latin typeface="Arial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0" t="0" r="0" b="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0" t="0" r="0" b="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Arial" pitchFamily="0" charset="1"/>
        <a:cs typeface="Arial" pitchFamily="0" charset="1"/>
      </a:majorFont>
      <a:minorFont>
        <a:latin typeface="Arial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0" t="0" r="0" b="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0" t="0" r="0" b="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Arial" pitchFamily="0" charset="1"/>
        <a:cs typeface="Arial" pitchFamily="0" charset="1"/>
      </a:majorFont>
      <a:minorFont>
        <a:latin typeface="Arial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0" t="0" r="0" b="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0" t="0" r="0" b="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Arial" pitchFamily="0" charset="1"/>
        <a:cs typeface="Arial" pitchFamily="0" charset="1"/>
      </a:majorFont>
      <a:minorFont>
        <a:latin typeface="Arial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0" t="0" r="0" b="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0" t="0" r="0" b="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114</TotalTime>
  <Application>LibreOffice/24.8.4.2$MacOSX_X86_64 LibreOffice_project/bb3cfa12c7b1bf994ecc5649a80400d06cd71002</Application>
  <AppVersion>15.0000</AppVersion>
  <Words>242</Words>
  <Paragraphs>56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2022-04-05T09:52:12Z</dcterms:created>
  <dc:creator>synkka synkka</dc:creator>
  <dc:description/>
  <dc:language>ru-RU</dc:language>
  <cp:lastModifiedBy/>
  <dcterms:modified xsi:type="dcterms:W3CDTF">2025-11-23T13:24:39Z</dcterms:modified>
  <cp:revision>31</cp:revision>
  <dc:subject/>
  <dc:title>Презентация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Широкоэкранный</vt:lpwstr>
  </property>
  <property fmtid="{D5CDD505-2E9C-101B-9397-08002B2CF9AE}" pid="3" name="Slides">
    <vt:i4>16</vt:i4>
  </property>
</Properties>
</file>